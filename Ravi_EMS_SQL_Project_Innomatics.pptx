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7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9" r:id="rId21"/>
    <p:sldId id="274" r:id="rId22"/>
    <p:sldId id="276" r:id="rId23"/>
    <p:sldId id="277"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608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gunde-ravi-675047292/"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ssets/title_bg.png"/>
          <p:cNvPicPr>
            <a:picLocks noChangeAspect="1"/>
          </p:cNvPicPr>
          <p:nvPr/>
        </p:nvPicPr>
        <p:blipFill>
          <a:blip r:embed="rId3"/>
          <a:stretch>
            <a:fillRect/>
          </a:stretch>
        </p:blipFill>
        <p:spPr>
          <a:xfrm>
            <a:off x="0" y="0"/>
            <a:ext cx="12191695" cy="6693408"/>
          </a:xfrm>
          <a:prstGeom prst="rect">
            <a:avLst/>
          </a:prstGeom>
        </p:spPr>
      </p:pic>
      <p:sp>
        <p:nvSpPr>
          <p:cNvPr id="3" name="Text 0"/>
          <p:cNvSpPr txBox="1"/>
          <p:nvPr/>
        </p:nvSpPr>
        <p:spPr>
          <a:xfrm>
            <a:off x="1280160" y="3566160"/>
            <a:ext cx="9631375" cy="640080"/>
          </a:xfrm>
          <a:prstGeom prst="rect">
            <a:avLst/>
          </a:prstGeom>
          <a:noFill/>
          <a:ln/>
        </p:spPr>
        <p:txBody>
          <a:bodyPr wrap="square" lIns="0" tIns="0" rIns="0" bIns="0" rtlCol="0" anchor="ctr"/>
          <a:lstStyle/>
          <a:p>
            <a:pPr marL="0" indent="0" algn="ctr">
              <a:buNone/>
            </a:pPr>
            <a:r>
              <a:rPr lang="en-US" sz="2600" b="1" dirty="0">
                <a:solidFill>
                  <a:srgbClr val="231F20"/>
                </a:solidFill>
                <a:latin typeface="Arial" pitchFamily="34" charset="0"/>
                <a:ea typeface="Arial" pitchFamily="34" charset="-122"/>
                <a:cs typeface="Arial" pitchFamily="34" charset="-120"/>
              </a:rPr>
              <a:t>EMPLOYEE MANAGEMENT SYSTEM</a:t>
            </a:r>
            <a:endParaRPr lang="en-US" sz="2600" dirty="0"/>
          </a:p>
        </p:txBody>
      </p:sp>
      <p:sp>
        <p:nvSpPr>
          <p:cNvPr id="4" name="Text 1"/>
          <p:cNvSpPr txBox="1"/>
          <p:nvPr/>
        </p:nvSpPr>
        <p:spPr>
          <a:xfrm>
            <a:off x="1280160" y="4114800"/>
            <a:ext cx="9631375" cy="365760"/>
          </a:xfrm>
          <a:prstGeom prst="rect">
            <a:avLst/>
          </a:prstGeom>
          <a:noFill/>
          <a:ln/>
        </p:spPr>
        <p:txBody>
          <a:bodyPr wrap="square" lIns="0" tIns="0" rIns="0" bIns="0" rtlCol="0" anchor="ctr"/>
          <a:lstStyle/>
          <a:p>
            <a:pPr marL="0" indent="0" algn="ctr">
              <a:buNone/>
            </a:pPr>
            <a:r>
              <a:rPr lang="en-US" sz="1400" b="1" kern="0" spc="200" dirty="0">
                <a:solidFill>
                  <a:srgbClr val="FF0000"/>
                </a:solidFill>
                <a:latin typeface="Arial" pitchFamily="34" charset="0"/>
                <a:ea typeface="Arial" pitchFamily="34" charset="-122"/>
                <a:cs typeface="Arial" pitchFamily="34" charset="-120"/>
              </a:rPr>
              <a:t>SQL PROJECT PRESENTATION</a:t>
            </a:r>
            <a:endParaRPr lang="en-US" sz="1400" dirty="0"/>
          </a:p>
        </p:txBody>
      </p:sp>
      <p:sp>
        <p:nvSpPr>
          <p:cNvPr id="5" name="Text 2"/>
          <p:cNvSpPr txBox="1"/>
          <p:nvPr/>
        </p:nvSpPr>
        <p:spPr>
          <a:xfrm>
            <a:off x="1280160" y="4709160"/>
            <a:ext cx="9631375" cy="1005840"/>
          </a:xfrm>
          <a:prstGeom prst="rect">
            <a:avLst/>
          </a:prstGeom>
          <a:noFill/>
          <a:ln/>
        </p:spPr>
        <p:txBody>
          <a:bodyPr wrap="square" lIns="0" tIns="0" rIns="0" bIns="0" rtlCol="0" anchor="ctr"/>
          <a:lstStyle/>
          <a:p>
            <a:pPr marL="0" indent="0" algn="ctr">
              <a:lnSpc>
                <a:spcPct val="130000"/>
              </a:lnSpc>
              <a:buNone/>
            </a:pPr>
            <a:r>
              <a:rPr lang="en-US" sz="1300" b="1" dirty="0">
                <a:solidFill>
                  <a:srgbClr val="231F20"/>
                </a:solidFill>
                <a:latin typeface="Calibri" pitchFamily="34" charset="0"/>
                <a:ea typeface="Calibri" pitchFamily="34" charset="-122"/>
                <a:cs typeface="Calibri" pitchFamily="34" charset="-120"/>
              </a:rPr>
              <a:t>Submitted By: </a:t>
            </a:r>
            <a:r>
              <a:rPr lang="en-US" sz="1300" dirty="0">
                <a:solidFill>
                  <a:srgbClr val="231F20"/>
                </a:solidFill>
                <a:latin typeface="Calibri" pitchFamily="34" charset="0"/>
                <a:ea typeface="Calibri" pitchFamily="34" charset="-122"/>
                <a:cs typeface="Calibri" pitchFamily="34" charset="-120"/>
              </a:rPr>
              <a:t>Gunde Ravi</a:t>
            </a:r>
            <a:endParaRPr lang="en-US" sz="1300" dirty="0"/>
          </a:p>
          <a:p>
            <a:pPr marL="0" indent="0" algn="ctr">
              <a:lnSpc>
                <a:spcPct val="130000"/>
              </a:lnSpc>
              <a:buNone/>
            </a:pPr>
            <a:r>
              <a:rPr lang="en-US" sz="1300" b="1" dirty="0">
                <a:solidFill>
                  <a:srgbClr val="231F20"/>
                </a:solidFill>
                <a:latin typeface="Calibri" pitchFamily="34" charset="0"/>
                <a:ea typeface="Calibri" pitchFamily="34" charset="-122"/>
                <a:cs typeface="Calibri" pitchFamily="34" charset="-120"/>
              </a:rPr>
              <a:t>Course: </a:t>
            </a:r>
            <a:r>
              <a:rPr lang="en-US" sz="1300" dirty="0">
                <a:solidFill>
                  <a:srgbClr val="231F20"/>
                </a:solidFill>
                <a:latin typeface="Calibri" pitchFamily="34" charset="0"/>
                <a:ea typeface="Calibri" pitchFamily="34" charset="-122"/>
                <a:cs typeface="Calibri" pitchFamily="34" charset="-120"/>
              </a:rPr>
              <a:t>Data Analyst</a:t>
            </a:r>
            <a:endParaRPr lang="en-US" sz="1300" dirty="0"/>
          </a:p>
          <a:p>
            <a:pPr marL="0" indent="0" algn="ctr">
              <a:lnSpc>
                <a:spcPct val="130000"/>
              </a:lnSpc>
              <a:buNone/>
            </a:pPr>
            <a:r>
              <a:rPr lang="en-US" sz="1300" b="1" dirty="0">
                <a:solidFill>
                  <a:srgbClr val="231F20"/>
                </a:solidFill>
                <a:latin typeface="Calibri" pitchFamily="34" charset="0"/>
                <a:ea typeface="Calibri" pitchFamily="34" charset="-122"/>
                <a:cs typeface="Calibri" pitchFamily="34" charset="-120"/>
              </a:rPr>
              <a:t>Institution: </a:t>
            </a:r>
            <a:r>
              <a:rPr lang="en-US" sz="1300" dirty="0">
                <a:solidFill>
                  <a:srgbClr val="231F20"/>
                </a:solidFill>
                <a:latin typeface="Calibri" pitchFamily="34" charset="0"/>
                <a:ea typeface="Calibri" pitchFamily="34" charset="-122"/>
                <a:cs typeface="Calibri" pitchFamily="34" charset="-120"/>
              </a:rPr>
              <a:t>Innomatics Research Labs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11185855" cy="594360"/>
          </a:xfrm>
          <a:prstGeom prst="rect">
            <a:avLst/>
          </a:prstGeom>
          <a:noFill/>
          <a:ln/>
        </p:spPr>
        <p:txBody>
          <a:bodyPr wrap="square" lIns="0" tIns="0" rIns="0" bIns="0" rtlCol="0" anchor="ctr"/>
          <a:lstStyle/>
          <a:p>
            <a:pPr marL="0" indent="0">
              <a:buNone/>
            </a:pPr>
            <a:r>
              <a:rPr lang="en-US" sz="3200" dirty="0">
                <a:solidFill>
                  <a:srgbClr val="FF0000"/>
                </a:solidFill>
                <a:latin typeface="Arial" pitchFamily="34" charset="0"/>
                <a:ea typeface="Arial" pitchFamily="34" charset="-122"/>
                <a:cs typeface="Arial" pitchFamily="34" charset="-120"/>
              </a:rPr>
              <a:t>About Me</a:t>
            </a:r>
            <a:endParaRPr lang="en-US" sz="3200" dirty="0"/>
          </a:p>
        </p:txBody>
      </p:sp>
      <p:sp>
        <p:nvSpPr>
          <p:cNvPr id="3" name="Text 1"/>
          <p:cNvSpPr txBox="1"/>
          <p:nvPr/>
        </p:nvSpPr>
        <p:spPr>
          <a:xfrm>
            <a:off x="731520" y="1371600"/>
            <a:ext cx="10454335" cy="2011680"/>
          </a:xfrm>
          <a:prstGeom prst="rect">
            <a:avLst/>
          </a:prstGeom>
          <a:noFill/>
          <a:ln/>
        </p:spPr>
        <p:txBody>
          <a:bodyPr wrap="square" lIns="0" tIns="0" rIns="0" bIns="0" rtlCol="0" anchor="ctr"/>
          <a:lstStyle/>
          <a:p>
            <a:pPr marL="342900" indent="-342900">
              <a:spcAft>
                <a:spcPts val="1400"/>
              </a:spcAft>
              <a:buSzPct val="100000"/>
              <a:buChar char="•"/>
            </a:pPr>
            <a:r>
              <a:rPr lang="en-US" sz="1600" b="1" dirty="0">
                <a:solidFill>
                  <a:srgbClr val="231F20"/>
                </a:solidFill>
                <a:latin typeface="Calibri" pitchFamily="34" charset="0"/>
                <a:ea typeface="Calibri" pitchFamily="34" charset="-122"/>
                <a:cs typeface="Calibri" pitchFamily="34" charset="-120"/>
              </a:rPr>
              <a:t>Educational background : </a:t>
            </a:r>
            <a:r>
              <a:rPr lang="en-IN" sz="1600" dirty="0" err="1"/>
              <a:t>B.Tech</a:t>
            </a:r>
            <a:r>
              <a:rPr lang="en-IN" sz="1600" dirty="0"/>
              <a:t> in Electrical and Electronics Engineering (EEE), completed in 2025.</a:t>
            </a:r>
          </a:p>
          <a:p>
            <a:pPr marL="342900" indent="-342900">
              <a:spcAft>
                <a:spcPts val="1400"/>
              </a:spcAft>
              <a:buSzPct val="100000"/>
              <a:buFontTx/>
              <a:buChar char="•"/>
            </a:pPr>
            <a:r>
              <a:rPr lang="en-US" sz="1600" b="1" dirty="0">
                <a:solidFill>
                  <a:srgbClr val="231F20"/>
                </a:solidFill>
                <a:latin typeface="Calibri" pitchFamily="34" charset="0"/>
                <a:ea typeface="Calibri" pitchFamily="34" charset="-122"/>
                <a:cs typeface="Calibri" pitchFamily="34" charset="-120"/>
              </a:rPr>
              <a:t>Why I want to learn Data Analyst : </a:t>
            </a:r>
            <a:r>
              <a:rPr lang="en-IN" sz="1600" dirty="0" err="1"/>
              <a:t>B.Tech</a:t>
            </a:r>
            <a:r>
              <a:rPr lang="en-IN" sz="1600" dirty="0"/>
              <a:t> in EEE graduate and aspiring Data Analyst with hands-on experience in Python, SQL, Excel, Power BI, and Data Science projects</a:t>
            </a:r>
            <a:r>
              <a:rPr lang="en-IN" sz="1600" b="1" dirty="0"/>
              <a:t>.</a:t>
            </a:r>
            <a:endParaRPr lang="en-IN" sz="1600" dirty="0"/>
          </a:p>
          <a:p>
            <a:pPr marL="342900" indent="-342900">
              <a:spcAft>
                <a:spcPts val="1400"/>
              </a:spcAft>
              <a:buSzPct val="100000"/>
              <a:buChar char="•"/>
            </a:pPr>
            <a:r>
              <a:rPr lang="en-US" sz="1600" b="1" dirty="0">
                <a:solidFill>
                  <a:srgbClr val="231F20"/>
                </a:solidFill>
                <a:latin typeface="Calibri" pitchFamily="34" charset="0"/>
                <a:ea typeface="Calibri" pitchFamily="34" charset="-122"/>
                <a:cs typeface="Calibri" pitchFamily="34" charset="-120"/>
              </a:rPr>
              <a:t>LinkedIn: </a:t>
            </a:r>
            <a:r>
              <a:rPr lang="en-US" sz="1600" b="1" dirty="0">
                <a:solidFill>
                  <a:srgbClr val="231F20"/>
                </a:solidFill>
                <a:latin typeface="Calibri" pitchFamily="34" charset="0"/>
                <a:ea typeface="Calibri" pitchFamily="34" charset="-122"/>
                <a:cs typeface="Calibri" pitchFamily="34" charset="-120"/>
                <a:hlinkClick r:id="rId3"/>
              </a:rPr>
              <a:t>https://www.linkedin.com/in/gunde-ravi-675047292/</a:t>
            </a:r>
            <a:endParaRPr lang="en-US" sz="1600" b="1" dirty="0">
              <a:solidFill>
                <a:srgbClr val="231F20"/>
              </a:solidFill>
              <a:latin typeface="Calibri" pitchFamily="34" charset="0"/>
              <a:ea typeface="Calibri" pitchFamily="34" charset="-122"/>
              <a:cs typeface="Calibri" pitchFamily="34" charset="-120"/>
            </a:endParaRPr>
          </a:p>
        </p:txBody>
      </p:sp>
      <p:sp>
        <p:nvSpPr>
          <p:cNvPr id="4" name="Text 2"/>
          <p:cNvSpPr txBox="1"/>
          <p:nvPr/>
        </p:nvSpPr>
        <p:spPr>
          <a:xfrm>
            <a:off x="731520" y="5943600"/>
            <a:ext cx="10454335" cy="320040"/>
          </a:xfrm>
          <a:prstGeom prst="rect">
            <a:avLst/>
          </a:prstGeom>
          <a:noFill/>
          <a:ln/>
        </p:spPr>
        <p:txBody>
          <a:bodyPr wrap="square" lIns="0" tIns="0" rIns="0" bIns="0" rtlCol="0" anchor="ctr"/>
          <a:lstStyle/>
          <a:p>
            <a:pPr marL="0" indent="0">
              <a:buNone/>
            </a:pPr>
            <a:endParaRPr lang="en-US" sz="11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6" name="Text 4"/>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a:t>
            </a:r>
            <a:endParaRPr lang="en-US" sz="900" dirty="0"/>
          </a:p>
        </p:txBody>
      </p:sp>
      <p:pic>
        <p:nvPicPr>
          <p:cNvPr id="7" name="Image 0" descr="assets/logo.png"/>
          <p:cNvPicPr>
            <a:picLocks noChangeAspect="1"/>
          </p:cNvPicPr>
          <p:nvPr/>
        </p:nvPicPr>
        <p:blipFill>
          <a:blip r:embed="rId4"/>
          <a:stretch>
            <a:fillRect/>
          </a:stretch>
        </p:blipFill>
        <p:spPr>
          <a:xfrm>
            <a:off x="10362895" y="6291072"/>
            <a:ext cx="1508760" cy="3154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11185855" cy="548640"/>
          </a:xfrm>
          <a:prstGeom prst="rect">
            <a:avLst/>
          </a:prstGeom>
          <a:noFill/>
          <a:ln/>
        </p:spPr>
        <p:txBody>
          <a:bodyPr wrap="square" lIns="0" tIns="0" rIns="0" bIns="0" rtlCol="0" anchor="ctr"/>
          <a:lstStyle/>
          <a:p>
            <a:pPr marL="0" indent="0">
              <a:buNone/>
            </a:pPr>
            <a:r>
              <a:rPr lang="en-US" sz="3000" dirty="0">
                <a:solidFill>
                  <a:srgbClr val="FF0000"/>
                </a:solidFill>
                <a:latin typeface="Arial" pitchFamily="34" charset="0"/>
                <a:ea typeface="Arial" pitchFamily="34" charset="-122"/>
                <a:cs typeface="Arial" pitchFamily="34" charset="-120"/>
              </a:rPr>
              <a:t>Agenda</a:t>
            </a:r>
            <a:endParaRPr lang="en-US" sz="3000" dirty="0"/>
          </a:p>
        </p:txBody>
      </p:sp>
      <p:sp>
        <p:nvSpPr>
          <p:cNvPr id="3" name="Text 1"/>
          <p:cNvSpPr txBox="1"/>
          <p:nvPr/>
        </p:nvSpPr>
        <p:spPr>
          <a:xfrm>
            <a:off x="731520" y="1371600"/>
            <a:ext cx="5212080" cy="292608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231F20"/>
                </a:solidFill>
                <a:latin typeface="Calibri" pitchFamily="34" charset="0"/>
                <a:ea typeface="Calibri" pitchFamily="34" charset="-122"/>
                <a:cs typeface="Calibri" pitchFamily="34" charset="-120"/>
              </a:rPr>
              <a:t>Project Domain Understanding</a:t>
            </a:r>
            <a:endParaRPr lang="en-US" sz="1500" dirty="0"/>
          </a:p>
          <a:p>
            <a:pPr marL="342900" indent="-342900">
              <a:spcAft>
                <a:spcPts val="1200"/>
              </a:spcAft>
              <a:buSzPct val="100000"/>
              <a:buChar char="•"/>
            </a:pPr>
            <a:r>
              <a:rPr lang="en-US" sz="1500" dirty="0">
                <a:solidFill>
                  <a:srgbClr val="231F20"/>
                </a:solidFill>
                <a:latin typeface="Calibri" pitchFamily="34" charset="0"/>
                <a:ea typeface="Calibri" pitchFamily="34" charset="-122"/>
                <a:cs typeface="Calibri" pitchFamily="34" charset="-120"/>
              </a:rPr>
              <a:t>Objective of the Project</a:t>
            </a:r>
            <a:endParaRPr lang="en-US" sz="1500" dirty="0"/>
          </a:p>
          <a:p>
            <a:pPr marL="342900" indent="-342900">
              <a:spcAft>
                <a:spcPts val="1200"/>
              </a:spcAft>
              <a:buSzPct val="100000"/>
              <a:buChar char="•"/>
            </a:pPr>
            <a:r>
              <a:rPr lang="en-US" sz="1500" dirty="0">
                <a:solidFill>
                  <a:srgbClr val="231F20"/>
                </a:solidFill>
                <a:latin typeface="Calibri" pitchFamily="34" charset="0"/>
                <a:ea typeface="Calibri" pitchFamily="34" charset="-122"/>
                <a:cs typeface="Calibri" pitchFamily="34" charset="-120"/>
              </a:rPr>
              <a:t>Problem Statement</a:t>
            </a:r>
            <a:endParaRPr lang="en-US" sz="1500" dirty="0"/>
          </a:p>
          <a:p>
            <a:pPr marL="342900" indent="-342900">
              <a:spcAft>
                <a:spcPts val="1200"/>
              </a:spcAft>
              <a:buSzPct val="100000"/>
              <a:buChar char="•"/>
            </a:pPr>
            <a:r>
              <a:rPr lang="en-US" sz="1500" dirty="0">
                <a:solidFill>
                  <a:srgbClr val="231F20"/>
                </a:solidFill>
                <a:latin typeface="Calibri" pitchFamily="34" charset="0"/>
                <a:ea typeface="Calibri" pitchFamily="34" charset="-122"/>
                <a:cs typeface="Calibri" pitchFamily="34" charset="-120"/>
              </a:rPr>
              <a:t>Database Relationships (ER Model)</a:t>
            </a:r>
            <a:endParaRPr lang="en-US" sz="1500" dirty="0"/>
          </a:p>
          <a:p>
            <a:pPr marL="342900" indent="-342900">
              <a:spcAft>
                <a:spcPts val="1200"/>
              </a:spcAft>
              <a:buSzPct val="100000"/>
              <a:buChar char="•"/>
            </a:pPr>
            <a:r>
              <a:rPr lang="en-US" sz="1500" dirty="0">
                <a:solidFill>
                  <a:srgbClr val="231F20"/>
                </a:solidFill>
                <a:latin typeface="Calibri" pitchFamily="34" charset="0"/>
                <a:ea typeface="Calibri" pitchFamily="34" charset="-122"/>
                <a:cs typeface="Calibri" pitchFamily="34" charset="-120"/>
              </a:rPr>
              <a:t>Database Design — Table Summary</a:t>
            </a:r>
            <a:endParaRPr lang="en-US" sz="1500" dirty="0"/>
          </a:p>
          <a:p>
            <a:pPr marL="342900" indent="-342900">
              <a:spcAft>
                <a:spcPts val="1200"/>
              </a:spcAft>
              <a:buSzPct val="100000"/>
              <a:buChar char="•"/>
            </a:pPr>
            <a:r>
              <a:rPr lang="en-US" sz="1500" dirty="0">
                <a:solidFill>
                  <a:srgbClr val="231F20"/>
                </a:solidFill>
                <a:latin typeface="Calibri" pitchFamily="34" charset="0"/>
                <a:ea typeface="Calibri" pitchFamily="34" charset="-122"/>
                <a:cs typeface="Calibri" pitchFamily="34" charset="-120"/>
              </a:rPr>
              <a:t>SQL Concepts Used</a:t>
            </a:r>
            <a:endParaRPr lang="en-US" sz="1500" dirty="0"/>
          </a:p>
        </p:txBody>
      </p:sp>
      <p:sp>
        <p:nvSpPr>
          <p:cNvPr id="4" name="Text 2"/>
          <p:cNvSpPr txBox="1"/>
          <p:nvPr/>
        </p:nvSpPr>
        <p:spPr>
          <a:xfrm>
            <a:off x="6263640" y="1371600"/>
            <a:ext cx="5212080" cy="4206240"/>
          </a:xfrm>
          <a:prstGeom prst="rect">
            <a:avLst/>
          </a:prstGeom>
          <a:noFill/>
          <a:ln/>
        </p:spPr>
        <p:txBody>
          <a:bodyPr wrap="square" lIns="0" tIns="0" rIns="0" bIns="0" rtlCol="0" anchor="ctr"/>
          <a:lstStyle/>
          <a:p>
            <a:pPr marL="342900" indent="-342900">
              <a:spcAft>
                <a:spcPts val="900"/>
              </a:spcAft>
              <a:buSzPct val="100000"/>
              <a:buChar char="•"/>
            </a:pPr>
            <a:r>
              <a:rPr lang="en-US" sz="1500" dirty="0">
                <a:solidFill>
                  <a:srgbClr val="231F20"/>
                </a:solidFill>
                <a:latin typeface="Calibri" pitchFamily="34" charset="0"/>
                <a:ea typeface="Calibri" pitchFamily="34" charset="-122"/>
                <a:cs typeface="Calibri" pitchFamily="34" charset="-120"/>
              </a:rPr>
              <a:t>Key Business Questions — SQL Analysis</a:t>
            </a:r>
            <a:endParaRPr lang="en-US" sz="1500" dirty="0"/>
          </a:p>
          <a:p>
            <a:pPr marL="0" indent="0">
              <a:spcAft>
                <a:spcPts val="900"/>
              </a:spcAft>
              <a:buNone/>
            </a:pPr>
            <a:r>
              <a:rPr lang="en-US" sz="1350" dirty="0">
                <a:solidFill>
                  <a:srgbClr val="6E6E6E"/>
                </a:solidFill>
                <a:latin typeface="Calibri" pitchFamily="34" charset="0"/>
                <a:ea typeface="Calibri" pitchFamily="34" charset="-122"/>
                <a:cs typeface="Calibri" pitchFamily="34" charset="-120"/>
              </a:rPr>
              <a:t>–  Employee Insights</a:t>
            </a:r>
            <a:endParaRPr lang="en-US" sz="1500" dirty="0"/>
          </a:p>
          <a:p>
            <a:pPr marL="0" indent="0">
              <a:spcAft>
                <a:spcPts val="900"/>
              </a:spcAft>
              <a:buNone/>
            </a:pPr>
            <a:r>
              <a:rPr lang="en-US" sz="1350" dirty="0">
                <a:solidFill>
                  <a:srgbClr val="6E6E6E"/>
                </a:solidFill>
                <a:latin typeface="Calibri" pitchFamily="34" charset="0"/>
                <a:ea typeface="Calibri" pitchFamily="34" charset="-122"/>
                <a:cs typeface="Calibri" pitchFamily="34" charset="-120"/>
              </a:rPr>
              <a:t>–  Job Role &amp; Department Analysis</a:t>
            </a:r>
            <a:endParaRPr lang="en-US" sz="1500" dirty="0"/>
          </a:p>
          <a:p>
            <a:pPr marL="0" indent="0">
              <a:spcAft>
                <a:spcPts val="900"/>
              </a:spcAft>
              <a:buNone/>
            </a:pPr>
            <a:r>
              <a:rPr lang="en-US" sz="1350" dirty="0">
                <a:solidFill>
                  <a:srgbClr val="6E6E6E"/>
                </a:solidFill>
                <a:latin typeface="Calibri" pitchFamily="34" charset="0"/>
                <a:ea typeface="Calibri" pitchFamily="34" charset="-122"/>
                <a:cs typeface="Calibri" pitchFamily="34" charset="-120"/>
              </a:rPr>
              <a:t>–  Qualification &amp; Skills Analysis</a:t>
            </a:r>
            <a:endParaRPr lang="en-US" sz="1500" dirty="0"/>
          </a:p>
          <a:p>
            <a:pPr marL="0" indent="0">
              <a:spcAft>
                <a:spcPts val="900"/>
              </a:spcAft>
              <a:buNone/>
            </a:pPr>
            <a:r>
              <a:rPr lang="en-US" sz="1350" dirty="0">
                <a:solidFill>
                  <a:srgbClr val="6E6E6E"/>
                </a:solidFill>
                <a:latin typeface="Calibri" pitchFamily="34" charset="0"/>
                <a:ea typeface="Calibri" pitchFamily="34" charset="-122"/>
                <a:cs typeface="Calibri" pitchFamily="34" charset="-120"/>
              </a:rPr>
              <a:t>–  Leave &amp; Absence Patterns</a:t>
            </a:r>
            <a:endParaRPr lang="en-US" sz="1500" dirty="0"/>
          </a:p>
          <a:p>
            <a:pPr marL="0" indent="0">
              <a:spcAft>
                <a:spcPts val="900"/>
              </a:spcAft>
              <a:buNone/>
            </a:pPr>
            <a:r>
              <a:rPr lang="en-US" sz="1350" dirty="0">
                <a:solidFill>
                  <a:srgbClr val="6E6E6E"/>
                </a:solidFill>
                <a:latin typeface="Calibri" pitchFamily="34" charset="0"/>
                <a:ea typeface="Calibri" pitchFamily="34" charset="-122"/>
                <a:cs typeface="Calibri" pitchFamily="34" charset="-120"/>
              </a:rPr>
              <a:t>–  Payroll &amp; Compensation Analysis</a:t>
            </a:r>
            <a:endParaRPr lang="en-US" sz="1500" dirty="0"/>
          </a:p>
          <a:p>
            <a:pPr marL="0" indent="0">
              <a:spcAft>
                <a:spcPts val="900"/>
              </a:spcAft>
              <a:buNone/>
            </a:pPr>
            <a:r>
              <a:rPr lang="en-US" sz="1350" dirty="0">
                <a:solidFill>
                  <a:srgbClr val="6E6E6E"/>
                </a:solidFill>
                <a:latin typeface="Calibri" pitchFamily="34" charset="0"/>
                <a:ea typeface="Calibri" pitchFamily="34" charset="-122"/>
                <a:cs typeface="Calibri" pitchFamily="34" charset="-120"/>
              </a:rPr>
              <a:t>–  Employee Ranking Analysis</a:t>
            </a:r>
            <a:endParaRPr lang="en-US" sz="1500" dirty="0"/>
          </a:p>
          <a:p>
            <a:pPr marL="342900" indent="-342900">
              <a:spcAft>
                <a:spcPts val="900"/>
              </a:spcAft>
              <a:buSzPct val="100000"/>
              <a:buChar char="•"/>
            </a:pPr>
            <a:r>
              <a:rPr lang="en-US" sz="1500" dirty="0">
                <a:solidFill>
                  <a:srgbClr val="231F20"/>
                </a:solidFill>
                <a:latin typeface="Calibri" pitchFamily="34" charset="0"/>
                <a:ea typeface="Calibri" pitchFamily="34" charset="-122"/>
                <a:cs typeface="Calibri" pitchFamily="34" charset="-120"/>
              </a:rPr>
              <a:t>Conclusion (Key Findings)</a:t>
            </a:r>
            <a:endParaRPr lang="en-US" sz="1500" dirty="0"/>
          </a:p>
          <a:p>
            <a:pPr marL="342900" indent="-342900">
              <a:spcAft>
                <a:spcPts val="900"/>
              </a:spcAft>
              <a:buSzPct val="100000"/>
              <a:buChar char="•"/>
            </a:pPr>
            <a:r>
              <a:rPr lang="en-US" sz="1500" dirty="0">
                <a:solidFill>
                  <a:srgbClr val="231F20"/>
                </a:solidFill>
                <a:latin typeface="Calibri" pitchFamily="34" charset="0"/>
                <a:ea typeface="Calibri" pitchFamily="34" charset="-122"/>
                <a:cs typeface="Calibri" pitchFamily="34" charset="-120"/>
              </a:rPr>
              <a:t>Experience / Challenges</a:t>
            </a:r>
            <a:endParaRPr lang="en-US" sz="1500" dirty="0"/>
          </a:p>
          <a:p>
            <a:pPr marL="342900" indent="-342900">
              <a:spcAft>
                <a:spcPts val="900"/>
              </a:spcAft>
              <a:buSzPct val="100000"/>
              <a:buChar char="•"/>
            </a:pPr>
            <a:r>
              <a:rPr lang="en-US" sz="1500" dirty="0">
                <a:solidFill>
                  <a:srgbClr val="231F20"/>
                </a:solidFill>
                <a:latin typeface="Calibri" pitchFamily="34" charset="0"/>
                <a:ea typeface="Calibri" pitchFamily="34" charset="-122"/>
                <a:cs typeface="Calibri" pitchFamily="34" charset="-120"/>
              </a:rPr>
              <a:t>Q&amp;A</a:t>
            </a:r>
            <a:endParaRPr lang="en-US" sz="15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6" name="Text 4"/>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3</a:t>
            </a:r>
            <a:endParaRPr lang="en-US" sz="900" dirty="0"/>
          </a:p>
        </p:txBody>
      </p:sp>
      <p:pic>
        <p:nvPicPr>
          <p:cNvPr id="7"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Introduction</a:t>
            </a:r>
            <a:endParaRPr lang="en-US" sz="2400" dirty="0"/>
          </a:p>
        </p:txBody>
      </p:sp>
      <p:sp>
        <p:nvSpPr>
          <p:cNvPr id="3" name="Shape 1"/>
          <p:cNvSpPr/>
          <p:nvPr/>
        </p:nvSpPr>
        <p:spPr>
          <a:xfrm>
            <a:off x="502920" y="978408"/>
            <a:ext cx="11185855" cy="0"/>
          </a:xfrm>
          <a:prstGeom prst="line">
            <a:avLst/>
          </a:prstGeom>
          <a:noFill/>
          <a:ln w="12700">
            <a:solidFill>
              <a:srgbClr val="E5E5E5"/>
            </a:solidFill>
            <a:prstDash val="solid"/>
          </a:ln>
        </p:spPr>
        <p:txBody>
          <a:bodyPr/>
          <a:lstStyle/>
          <a:p>
            <a:endParaRPr/>
          </a:p>
        </p:txBody>
      </p:sp>
      <p:sp>
        <p:nvSpPr>
          <p:cNvPr id="4" name="Text 2"/>
          <p:cNvSpPr txBox="1"/>
          <p:nvPr/>
        </p:nvSpPr>
        <p:spPr>
          <a:xfrm>
            <a:off x="731520" y="1362456"/>
            <a:ext cx="10454335" cy="2926080"/>
          </a:xfrm>
          <a:prstGeom prst="rect">
            <a:avLst/>
          </a:prstGeom>
          <a:noFill/>
          <a:ln/>
        </p:spPr>
        <p:txBody>
          <a:bodyPr wrap="square" lIns="0" tIns="0" rIns="0" bIns="0" rtlCol="0" anchor="ctr"/>
          <a:lstStyle/>
          <a:p>
            <a:pPr marL="342900" indent="-342900">
              <a:lnSpc>
                <a:spcPct val="115000"/>
              </a:lnSpc>
              <a:spcAft>
                <a:spcPts val="1600"/>
              </a:spcAft>
              <a:buSzPct val="100000"/>
              <a:buChar char="•"/>
            </a:pPr>
            <a:r>
              <a:rPr lang="en-US" sz="1700" dirty="0">
                <a:solidFill>
                  <a:srgbClr val="231F20"/>
                </a:solidFill>
                <a:latin typeface="Calibri" pitchFamily="34" charset="0"/>
                <a:ea typeface="Calibri" pitchFamily="34" charset="-122"/>
                <a:cs typeface="Calibri" pitchFamily="34" charset="-120"/>
              </a:rPr>
              <a:t>The Employee Management System is a database project developed using SQL.</a:t>
            </a:r>
            <a:endParaRPr lang="en-US" sz="1700" dirty="0"/>
          </a:p>
          <a:p>
            <a:pPr marL="342900" indent="-342900">
              <a:lnSpc>
                <a:spcPct val="115000"/>
              </a:lnSpc>
              <a:spcAft>
                <a:spcPts val="1600"/>
              </a:spcAft>
              <a:buSzPct val="100000"/>
              <a:buChar char="•"/>
            </a:pPr>
            <a:r>
              <a:rPr lang="en-US" sz="1700" dirty="0">
                <a:solidFill>
                  <a:srgbClr val="231F20"/>
                </a:solidFill>
                <a:latin typeface="Calibri" pitchFamily="34" charset="0"/>
                <a:ea typeface="Calibri" pitchFamily="34" charset="-122"/>
                <a:cs typeface="Calibri" pitchFamily="34" charset="-120"/>
              </a:rPr>
              <a:t>The system is designed to manage employee-related information such as job departments, salaries, bonuses, qualifications, leaves, and payroll.</a:t>
            </a:r>
            <a:endParaRPr lang="en-US" sz="1700" dirty="0"/>
          </a:p>
          <a:p>
            <a:pPr marL="342900" indent="-342900">
              <a:lnSpc>
                <a:spcPct val="115000"/>
              </a:lnSpc>
              <a:spcAft>
                <a:spcPts val="1600"/>
              </a:spcAft>
              <a:buSzPct val="100000"/>
              <a:buChar char="•"/>
            </a:pPr>
            <a:r>
              <a:rPr lang="en-US" sz="1700" dirty="0">
                <a:solidFill>
                  <a:srgbClr val="231F20"/>
                </a:solidFill>
                <a:latin typeface="Calibri" pitchFamily="34" charset="0"/>
                <a:ea typeface="Calibri" pitchFamily="34" charset="-122"/>
                <a:cs typeface="Calibri" pitchFamily="34" charset="-120"/>
              </a:rPr>
              <a:t>SQL queries are used to analyze employee information, department performance, salary distribution, qualifications, leave patterns, and payroll data.</a:t>
            </a:r>
            <a:endParaRPr lang="en-US" sz="17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6" name="Text 4"/>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4</a:t>
            </a:r>
            <a:endParaRPr lang="en-US" sz="900" dirty="0"/>
          </a:p>
        </p:txBody>
      </p:sp>
      <p:pic>
        <p:nvPicPr>
          <p:cNvPr id="7"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Problem Statement</a:t>
            </a:r>
            <a:endParaRPr lang="en-US" sz="2400" dirty="0"/>
          </a:p>
        </p:txBody>
      </p:sp>
      <p:sp>
        <p:nvSpPr>
          <p:cNvPr id="3" name="Shape 1"/>
          <p:cNvSpPr/>
          <p:nvPr/>
        </p:nvSpPr>
        <p:spPr>
          <a:xfrm>
            <a:off x="502920" y="978408"/>
            <a:ext cx="11185855" cy="0"/>
          </a:xfrm>
          <a:prstGeom prst="line">
            <a:avLst/>
          </a:prstGeom>
          <a:noFill/>
          <a:ln w="12700">
            <a:solidFill>
              <a:srgbClr val="E5E5E5"/>
            </a:solidFill>
            <a:prstDash val="solid"/>
          </a:ln>
        </p:spPr>
        <p:txBody>
          <a:bodyPr/>
          <a:lstStyle/>
          <a:p>
            <a:endParaRPr/>
          </a:p>
        </p:txBody>
      </p:sp>
      <p:sp>
        <p:nvSpPr>
          <p:cNvPr id="4" name="Text 2"/>
          <p:cNvSpPr txBox="1"/>
          <p:nvPr/>
        </p:nvSpPr>
        <p:spPr>
          <a:xfrm>
            <a:off x="731520" y="1362456"/>
            <a:ext cx="10454335" cy="3840480"/>
          </a:xfrm>
          <a:prstGeom prst="rect">
            <a:avLst/>
          </a:prstGeom>
          <a:noFill/>
          <a:ln/>
        </p:spPr>
        <p:txBody>
          <a:bodyPr wrap="square" lIns="0" tIns="0" rIns="0" bIns="0" rtlCol="0" anchor="t"/>
          <a:lstStyle/>
          <a:p>
            <a:pPr marL="0" indent="0">
              <a:lnSpc>
                <a:spcPct val="130000"/>
              </a:lnSpc>
              <a:spcAft>
                <a:spcPts val="1800"/>
              </a:spcAft>
              <a:buNone/>
            </a:pPr>
            <a:r>
              <a:rPr lang="en-US" sz="1500" dirty="0">
                <a:solidFill>
                  <a:srgbClr val="231F20"/>
                </a:solidFill>
                <a:latin typeface="Calibri" pitchFamily="34" charset="0"/>
                <a:ea typeface="Calibri" pitchFamily="34" charset="-122"/>
                <a:cs typeface="Calibri" pitchFamily="34" charset="-120"/>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endParaRPr lang="en-US" sz="1500" dirty="0"/>
          </a:p>
          <a:p>
            <a:pPr marL="0" indent="0">
              <a:lnSpc>
                <a:spcPct val="130000"/>
              </a:lnSpc>
              <a:spcAft>
                <a:spcPts val="1800"/>
              </a:spcAft>
              <a:buNone/>
            </a:pPr>
            <a:r>
              <a:rPr lang="en-US" sz="1500" dirty="0">
                <a:solidFill>
                  <a:srgbClr val="231F20"/>
                </a:solidFill>
                <a:latin typeface="Calibri" pitchFamily="34" charset="0"/>
                <a:ea typeface="Calibri" pitchFamily="34" charset="-122"/>
                <a:cs typeface="Calibri" pitchFamily="34" charset="-120"/>
              </a:rPr>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endParaRPr lang="en-US" sz="15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6" name="Text 4"/>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5</a:t>
            </a:r>
            <a:endParaRPr lang="en-US" sz="900" dirty="0"/>
          </a:p>
        </p:txBody>
      </p:sp>
      <p:pic>
        <p:nvPicPr>
          <p:cNvPr id="7" name="Image 0" descr="assets/logo.png"/>
          <p:cNvPicPr>
            <a:picLocks noChangeAspect="1"/>
          </p:cNvPicPr>
          <p:nvPr/>
        </p:nvPicPr>
        <p:blipFill>
          <a:blip r:embed="rId2"/>
          <a:stretch>
            <a:fillRect/>
          </a:stretch>
        </p:blipFill>
        <p:spPr>
          <a:xfrm>
            <a:off x="10362895" y="6291072"/>
            <a:ext cx="1508760" cy="3154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Project Objectives</a:t>
            </a:r>
            <a:endParaRPr lang="en-US" sz="2400" dirty="0"/>
          </a:p>
        </p:txBody>
      </p:sp>
      <p:sp>
        <p:nvSpPr>
          <p:cNvPr id="3" name="Shape 1"/>
          <p:cNvSpPr/>
          <p:nvPr/>
        </p:nvSpPr>
        <p:spPr>
          <a:xfrm>
            <a:off x="502920" y="978408"/>
            <a:ext cx="11185855" cy="0"/>
          </a:xfrm>
          <a:prstGeom prst="line">
            <a:avLst/>
          </a:prstGeom>
          <a:noFill/>
          <a:ln w="12700">
            <a:solidFill>
              <a:srgbClr val="E5E5E5"/>
            </a:solidFill>
            <a:prstDash val="solid"/>
          </a:ln>
        </p:spPr>
        <p:txBody>
          <a:bodyPr/>
          <a:lstStyle/>
          <a:p>
            <a:endParaRPr/>
          </a:p>
        </p:txBody>
      </p:sp>
      <p:sp>
        <p:nvSpPr>
          <p:cNvPr id="4" name="Text 2"/>
          <p:cNvSpPr txBox="1"/>
          <p:nvPr/>
        </p:nvSpPr>
        <p:spPr>
          <a:xfrm>
            <a:off x="731520" y="1316736"/>
            <a:ext cx="5212080" cy="3840480"/>
          </a:xfrm>
          <a:prstGeom prst="rect">
            <a:avLst/>
          </a:prstGeom>
          <a:noFill/>
          <a:ln/>
        </p:spPr>
        <p:txBody>
          <a:bodyPr wrap="square" lIns="0" tIns="0" rIns="0" bIns="0" rtlCol="0" anchor="ctr"/>
          <a:lstStyle/>
          <a:p>
            <a:pPr marL="342900" indent="-342900">
              <a:spcAft>
                <a:spcPts val="1400"/>
              </a:spcAft>
              <a:buSzPct val="100000"/>
              <a:buChar char="•"/>
            </a:pPr>
            <a:r>
              <a:rPr lang="en-US" sz="1500" dirty="0">
                <a:solidFill>
                  <a:srgbClr val="231F20"/>
                </a:solidFill>
                <a:latin typeface="Calibri" pitchFamily="34" charset="0"/>
                <a:ea typeface="Calibri" pitchFamily="34" charset="-122"/>
                <a:cs typeface="Calibri" pitchFamily="34" charset="-120"/>
              </a:rPr>
              <a:t>To create a structured database for managing employee information.</a:t>
            </a:r>
            <a:endParaRPr lang="en-US" sz="1500" dirty="0"/>
          </a:p>
          <a:p>
            <a:pPr marL="342900" indent="-342900">
              <a:spcAft>
                <a:spcPts val="1400"/>
              </a:spcAft>
              <a:buSzPct val="100000"/>
              <a:buChar char="•"/>
            </a:pPr>
            <a:r>
              <a:rPr lang="en-US" sz="1500" dirty="0">
                <a:solidFill>
                  <a:srgbClr val="231F20"/>
                </a:solidFill>
                <a:latin typeface="Calibri" pitchFamily="34" charset="0"/>
                <a:ea typeface="Calibri" pitchFamily="34" charset="-122"/>
                <a:cs typeface="Calibri" pitchFamily="34" charset="-120"/>
              </a:rPr>
              <a:t>To maintain employee and department details.</a:t>
            </a:r>
            <a:endParaRPr lang="en-US" sz="1500" dirty="0"/>
          </a:p>
          <a:p>
            <a:pPr marL="342900" indent="-342900">
              <a:spcAft>
                <a:spcPts val="1400"/>
              </a:spcAft>
              <a:buSzPct val="100000"/>
              <a:buChar char="•"/>
            </a:pPr>
            <a:r>
              <a:rPr lang="en-US" sz="1500" dirty="0">
                <a:solidFill>
                  <a:srgbClr val="231F20"/>
                </a:solidFill>
                <a:latin typeface="Calibri" pitchFamily="34" charset="0"/>
                <a:ea typeface="Calibri" pitchFamily="34" charset="-122"/>
                <a:cs typeface="Calibri" pitchFamily="34" charset="-120"/>
              </a:rPr>
              <a:t>To manage salary, bonus, and payroll information.</a:t>
            </a:r>
            <a:endParaRPr lang="en-US" sz="1500" dirty="0"/>
          </a:p>
          <a:p>
            <a:pPr marL="342900" indent="-342900">
              <a:spcAft>
                <a:spcPts val="1400"/>
              </a:spcAft>
              <a:buSzPct val="100000"/>
              <a:buChar char="•"/>
            </a:pPr>
            <a:r>
              <a:rPr lang="en-US" sz="1500" dirty="0">
                <a:solidFill>
                  <a:srgbClr val="231F20"/>
                </a:solidFill>
                <a:latin typeface="Calibri" pitchFamily="34" charset="0"/>
                <a:ea typeface="Calibri" pitchFamily="34" charset="-122"/>
                <a:cs typeface="Calibri" pitchFamily="34" charset="-120"/>
              </a:rPr>
              <a:t>To analyze employee qualifications and job roles.</a:t>
            </a:r>
            <a:endParaRPr lang="en-US" sz="1500" dirty="0"/>
          </a:p>
        </p:txBody>
      </p:sp>
      <p:sp>
        <p:nvSpPr>
          <p:cNvPr id="5" name="Text 3"/>
          <p:cNvSpPr txBox="1"/>
          <p:nvPr/>
        </p:nvSpPr>
        <p:spPr>
          <a:xfrm>
            <a:off x="6263640" y="1316736"/>
            <a:ext cx="5212080" cy="3840480"/>
          </a:xfrm>
          <a:prstGeom prst="rect">
            <a:avLst/>
          </a:prstGeom>
          <a:noFill/>
          <a:ln/>
        </p:spPr>
        <p:txBody>
          <a:bodyPr wrap="square" lIns="0" tIns="0" rIns="0" bIns="0" rtlCol="0" anchor="ctr"/>
          <a:lstStyle/>
          <a:p>
            <a:pPr marL="342900" indent="-342900">
              <a:spcAft>
                <a:spcPts val="1400"/>
              </a:spcAft>
              <a:buSzPct val="100000"/>
              <a:buChar char="•"/>
            </a:pPr>
            <a:r>
              <a:rPr lang="en-US" sz="1500" dirty="0">
                <a:solidFill>
                  <a:srgbClr val="231F20"/>
                </a:solidFill>
                <a:latin typeface="Calibri" pitchFamily="34" charset="0"/>
                <a:ea typeface="Calibri" pitchFamily="34" charset="-122"/>
                <a:cs typeface="Calibri" pitchFamily="34" charset="-120"/>
              </a:rPr>
              <a:t>To study employee leave and absence patterns.</a:t>
            </a:r>
            <a:endParaRPr lang="en-US" sz="1500" dirty="0"/>
          </a:p>
          <a:p>
            <a:pPr marL="342900" indent="-342900">
              <a:spcAft>
                <a:spcPts val="1400"/>
              </a:spcAft>
              <a:buSzPct val="100000"/>
              <a:buChar char="•"/>
            </a:pPr>
            <a:r>
              <a:rPr lang="en-US" sz="1500" dirty="0">
                <a:solidFill>
                  <a:srgbClr val="231F20"/>
                </a:solidFill>
                <a:latin typeface="Calibri" pitchFamily="34" charset="0"/>
                <a:ea typeface="Calibri" pitchFamily="34" charset="-122"/>
                <a:cs typeface="Calibri" pitchFamily="34" charset="-120"/>
              </a:rPr>
              <a:t>To compare salaries and bonuses across departments.</a:t>
            </a:r>
            <a:endParaRPr lang="en-US" sz="1500" dirty="0"/>
          </a:p>
          <a:p>
            <a:pPr marL="342900" indent="-342900">
              <a:spcAft>
                <a:spcPts val="1400"/>
              </a:spcAft>
              <a:buSzPct val="100000"/>
              <a:buChar char="•"/>
            </a:pPr>
            <a:r>
              <a:rPr lang="en-US" sz="1500" dirty="0">
                <a:solidFill>
                  <a:srgbClr val="231F20"/>
                </a:solidFill>
                <a:latin typeface="Calibri" pitchFamily="34" charset="0"/>
                <a:ea typeface="Calibri" pitchFamily="34" charset="-122"/>
                <a:cs typeface="Calibri" pitchFamily="34" charset="-120"/>
              </a:rPr>
              <a:t>To use SQL for meaningful employee and payroll analysis.</a:t>
            </a:r>
            <a:endParaRPr lang="en-US" sz="1500" dirty="0"/>
          </a:p>
        </p:txBody>
      </p:sp>
      <p:sp>
        <p:nvSpPr>
          <p:cNvPr id="6" name="Text 4"/>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7" name="Text 5"/>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6</a:t>
            </a:r>
            <a:endParaRPr lang="en-US" sz="900" dirty="0"/>
          </a:p>
        </p:txBody>
      </p:sp>
      <p:pic>
        <p:nvPicPr>
          <p:cNvPr id="8"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Database Relationships</a:t>
            </a:r>
            <a:endParaRPr lang="en-US" sz="2400" dirty="0"/>
          </a:p>
        </p:txBody>
      </p:sp>
      <p:sp>
        <p:nvSpPr>
          <p:cNvPr id="3" name="Shape 1"/>
          <p:cNvSpPr/>
          <p:nvPr/>
        </p:nvSpPr>
        <p:spPr>
          <a:xfrm>
            <a:off x="502920" y="978408"/>
            <a:ext cx="11185855" cy="0"/>
          </a:xfrm>
          <a:prstGeom prst="line">
            <a:avLst/>
          </a:prstGeom>
          <a:noFill/>
          <a:ln w="12700">
            <a:solidFill>
              <a:srgbClr val="E5E5E5"/>
            </a:solidFill>
            <a:prstDash val="solid"/>
          </a:ln>
        </p:spPr>
        <p:txBody>
          <a:bodyPr/>
          <a:lstStyle/>
          <a:p>
            <a:endParaRPr/>
          </a:p>
        </p:txBody>
      </p:sp>
      <p:pic>
        <p:nvPicPr>
          <p:cNvPr id="4" name="Image 0" descr="assets/er_diagram.png"/>
          <p:cNvPicPr>
            <a:picLocks noChangeAspect="1"/>
          </p:cNvPicPr>
          <p:nvPr/>
        </p:nvPicPr>
        <p:blipFill>
          <a:blip r:embed="rId3"/>
          <a:stretch>
            <a:fillRect/>
          </a:stretch>
        </p:blipFill>
        <p:spPr>
          <a:xfrm>
            <a:off x="4206557" y="477399"/>
            <a:ext cx="7863840" cy="5813673"/>
          </a:xfrm>
          <a:prstGeom prst="rect">
            <a:avLst/>
          </a:prstGeom>
        </p:spPr>
      </p:pic>
      <p:sp>
        <p:nvSpPr>
          <p:cNvPr id="5" name="Text 2"/>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6" name="Text 3"/>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7</a:t>
            </a:r>
            <a:endParaRPr lang="en-US" sz="900" dirty="0"/>
          </a:p>
        </p:txBody>
      </p:sp>
      <p:pic>
        <p:nvPicPr>
          <p:cNvPr id="7" name="Image 1" descr="assets/logo.png"/>
          <p:cNvPicPr>
            <a:picLocks noChangeAspect="1"/>
          </p:cNvPicPr>
          <p:nvPr/>
        </p:nvPicPr>
        <p:blipFill>
          <a:blip r:embed="rId4"/>
          <a:stretch>
            <a:fillRect/>
          </a:stretch>
        </p:blipFill>
        <p:spPr>
          <a:xfrm>
            <a:off x="10362895" y="6291072"/>
            <a:ext cx="1508760" cy="3154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Database Design</a:t>
            </a:r>
            <a:endParaRPr lang="en-US" sz="2400" dirty="0"/>
          </a:p>
        </p:txBody>
      </p:sp>
      <p:sp>
        <p:nvSpPr>
          <p:cNvPr id="3" name="Shape 1"/>
          <p:cNvSpPr/>
          <p:nvPr/>
        </p:nvSpPr>
        <p:spPr>
          <a:xfrm>
            <a:off x="502920" y="978408"/>
            <a:ext cx="11185855" cy="0"/>
          </a:xfrm>
          <a:prstGeom prst="line">
            <a:avLst/>
          </a:prstGeom>
          <a:noFill/>
          <a:ln w="12700">
            <a:solidFill>
              <a:srgbClr val="E5E5E5"/>
            </a:solidFill>
            <a:prstDash val="solid"/>
          </a:ln>
        </p:spPr>
        <p:txBody>
          <a:bodyPr/>
          <a:lstStyle/>
          <a:p>
            <a:endParaRPr/>
          </a:p>
        </p:txBody>
      </p:sp>
      <p:sp>
        <p:nvSpPr>
          <p:cNvPr id="4" name="Text 2"/>
          <p:cNvSpPr txBox="1"/>
          <p:nvPr/>
        </p:nvSpPr>
        <p:spPr>
          <a:xfrm>
            <a:off x="731520" y="1271016"/>
            <a:ext cx="10454335" cy="365760"/>
          </a:xfrm>
          <a:prstGeom prst="rect">
            <a:avLst/>
          </a:prstGeom>
          <a:noFill/>
          <a:ln/>
        </p:spPr>
        <p:txBody>
          <a:bodyPr wrap="square" lIns="0" tIns="0" rIns="0" bIns="0" rtlCol="0" anchor="ctr"/>
          <a:lstStyle/>
          <a:p>
            <a:pPr marL="0" indent="0">
              <a:buNone/>
            </a:pPr>
            <a:r>
              <a:rPr lang="en-US" sz="1500" dirty="0">
                <a:solidFill>
                  <a:srgbClr val="231F20"/>
                </a:solidFill>
                <a:latin typeface="Calibri" pitchFamily="34" charset="0"/>
                <a:ea typeface="Calibri" pitchFamily="34" charset="-122"/>
                <a:cs typeface="Calibri" pitchFamily="34" charset="-120"/>
              </a:rPr>
              <a:t>The Employee Management System consists of 6 main tables:</a:t>
            </a:r>
            <a:endParaRPr lang="en-US" sz="1500" dirty="0"/>
          </a:p>
        </p:txBody>
      </p:sp>
      <p:sp>
        <p:nvSpPr>
          <p:cNvPr id="5" name="Shape 3"/>
          <p:cNvSpPr/>
          <p:nvPr/>
        </p:nvSpPr>
        <p:spPr>
          <a:xfrm>
            <a:off x="731520" y="1773936"/>
            <a:ext cx="5181448" cy="841248"/>
          </a:xfrm>
          <a:prstGeom prst="roundRect">
            <a:avLst>
              <a:gd name="adj" fmla="val 6522"/>
            </a:avLst>
          </a:prstGeom>
          <a:solidFill>
            <a:srgbClr val="F4F4F4"/>
          </a:solidFill>
          <a:ln/>
        </p:spPr>
        <p:txBody>
          <a:bodyPr/>
          <a:lstStyle/>
          <a:p>
            <a:endParaRPr/>
          </a:p>
        </p:txBody>
      </p:sp>
      <p:sp>
        <p:nvSpPr>
          <p:cNvPr id="6" name="Text 4"/>
          <p:cNvSpPr txBox="1"/>
          <p:nvPr/>
        </p:nvSpPr>
        <p:spPr>
          <a:xfrm>
            <a:off x="914400" y="1847088"/>
            <a:ext cx="4815688" cy="713232"/>
          </a:xfrm>
          <a:prstGeom prst="rect">
            <a:avLst/>
          </a:prstGeom>
          <a:noFill/>
          <a:ln/>
        </p:spPr>
        <p:txBody>
          <a:bodyPr wrap="square" lIns="0" tIns="0" rIns="0" bIns="0" rtlCol="0" anchor="t"/>
          <a:lstStyle/>
          <a:p>
            <a:pPr marL="0" indent="0">
              <a:buNone/>
            </a:pPr>
            <a:r>
              <a:rPr lang="en-US" sz="1400" b="1" dirty="0">
                <a:solidFill>
                  <a:srgbClr val="FF0000"/>
                </a:solidFill>
                <a:latin typeface="Calibri" pitchFamily="34" charset="0"/>
                <a:ea typeface="Calibri" pitchFamily="34" charset="-122"/>
                <a:cs typeface="Calibri" pitchFamily="34" charset="-120"/>
              </a:rPr>
              <a:t>JobDepartment
</a:t>
            </a:r>
            <a:r>
              <a:rPr lang="en-US" sz="1200" dirty="0">
                <a:solidFill>
                  <a:srgbClr val="231F20"/>
                </a:solidFill>
                <a:latin typeface="Calibri" pitchFamily="34" charset="0"/>
                <a:ea typeface="Calibri" pitchFamily="34" charset="-122"/>
                <a:cs typeface="Calibri" pitchFamily="34" charset="-120"/>
              </a:rPr>
              <a:t>Stores job ID, department, job name, description, and salary range.</a:t>
            </a:r>
            <a:endParaRPr lang="en-US" sz="1400" dirty="0"/>
          </a:p>
        </p:txBody>
      </p:sp>
      <p:sp>
        <p:nvSpPr>
          <p:cNvPr id="7" name="Shape 5"/>
          <p:cNvSpPr/>
          <p:nvPr/>
        </p:nvSpPr>
        <p:spPr>
          <a:xfrm>
            <a:off x="6278728" y="1773936"/>
            <a:ext cx="5181448" cy="841248"/>
          </a:xfrm>
          <a:prstGeom prst="roundRect">
            <a:avLst>
              <a:gd name="adj" fmla="val 6522"/>
            </a:avLst>
          </a:prstGeom>
          <a:solidFill>
            <a:srgbClr val="F4F4F4"/>
          </a:solidFill>
          <a:ln/>
        </p:spPr>
        <p:txBody>
          <a:bodyPr/>
          <a:lstStyle/>
          <a:p>
            <a:endParaRPr/>
          </a:p>
        </p:txBody>
      </p:sp>
      <p:sp>
        <p:nvSpPr>
          <p:cNvPr id="8" name="Text 6"/>
          <p:cNvSpPr txBox="1"/>
          <p:nvPr/>
        </p:nvSpPr>
        <p:spPr>
          <a:xfrm>
            <a:off x="6461608" y="1847088"/>
            <a:ext cx="4815688" cy="713232"/>
          </a:xfrm>
          <a:prstGeom prst="rect">
            <a:avLst/>
          </a:prstGeom>
          <a:noFill/>
          <a:ln/>
        </p:spPr>
        <p:txBody>
          <a:bodyPr wrap="square" lIns="0" tIns="0" rIns="0" bIns="0" rtlCol="0" anchor="t"/>
          <a:lstStyle/>
          <a:p>
            <a:pPr marL="0" indent="0">
              <a:buNone/>
            </a:pPr>
            <a:r>
              <a:rPr lang="en-US" sz="1400" b="1" dirty="0">
                <a:solidFill>
                  <a:srgbClr val="FF0000"/>
                </a:solidFill>
                <a:latin typeface="Calibri" pitchFamily="34" charset="0"/>
                <a:ea typeface="Calibri" pitchFamily="34" charset="-122"/>
                <a:cs typeface="Calibri" pitchFamily="34" charset="-120"/>
              </a:rPr>
              <a:t>SalaryBonus
</a:t>
            </a:r>
            <a:r>
              <a:rPr lang="en-US" sz="1200" dirty="0">
                <a:solidFill>
                  <a:srgbClr val="231F20"/>
                </a:solidFill>
                <a:latin typeface="Calibri" pitchFamily="34" charset="0"/>
                <a:ea typeface="Calibri" pitchFamily="34" charset="-122"/>
                <a:cs typeface="Calibri" pitchFamily="34" charset="-120"/>
              </a:rPr>
              <a:t>Stores salary amount, annual salary, and bonus information.</a:t>
            </a:r>
            <a:endParaRPr lang="en-US" sz="1400" dirty="0"/>
          </a:p>
        </p:txBody>
      </p:sp>
      <p:sp>
        <p:nvSpPr>
          <p:cNvPr id="9" name="Shape 7"/>
          <p:cNvSpPr/>
          <p:nvPr/>
        </p:nvSpPr>
        <p:spPr>
          <a:xfrm>
            <a:off x="731520" y="2734056"/>
            <a:ext cx="5181448" cy="841248"/>
          </a:xfrm>
          <a:prstGeom prst="roundRect">
            <a:avLst>
              <a:gd name="adj" fmla="val 6522"/>
            </a:avLst>
          </a:prstGeom>
          <a:solidFill>
            <a:srgbClr val="F4F4F4"/>
          </a:solidFill>
          <a:ln/>
        </p:spPr>
        <p:txBody>
          <a:bodyPr/>
          <a:lstStyle/>
          <a:p>
            <a:endParaRPr/>
          </a:p>
        </p:txBody>
      </p:sp>
      <p:sp>
        <p:nvSpPr>
          <p:cNvPr id="10" name="Text 8"/>
          <p:cNvSpPr txBox="1"/>
          <p:nvPr/>
        </p:nvSpPr>
        <p:spPr>
          <a:xfrm>
            <a:off x="914400" y="2807208"/>
            <a:ext cx="4815688" cy="713232"/>
          </a:xfrm>
          <a:prstGeom prst="rect">
            <a:avLst/>
          </a:prstGeom>
          <a:noFill/>
          <a:ln/>
        </p:spPr>
        <p:txBody>
          <a:bodyPr wrap="square" lIns="0" tIns="0" rIns="0" bIns="0" rtlCol="0" anchor="t"/>
          <a:lstStyle/>
          <a:p>
            <a:pPr marL="0" indent="0">
              <a:buNone/>
            </a:pPr>
            <a:r>
              <a:rPr lang="en-US" sz="1400" b="1" dirty="0">
                <a:solidFill>
                  <a:srgbClr val="FF0000"/>
                </a:solidFill>
                <a:latin typeface="Calibri" pitchFamily="34" charset="0"/>
                <a:ea typeface="Calibri" pitchFamily="34" charset="-122"/>
                <a:cs typeface="Calibri" pitchFamily="34" charset="-120"/>
              </a:rPr>
              <a:t>Employee
</a:t>
            </a:r>
            <a:r>
              <a:rPr lang="en-US" sz="1200" dirty="0">
                <a:solidFill>
                  <a:srgbClr val="231F20"/>
                </a:solidFill>
                <a:latin typeface="Calibri" pitchFamily="34" charset="0"/>
                <a:ea typeface="Calibri" pitchFamily="34" charset="-122"/>
                <a:cs typeface="Calibri" pitchFamily="34" charset="-120"/>
              </a:rPr>
              <a:t>Stores employee personal details and job information.</a:t>
            </a:r>
            <a:endParaRPr lang="en-US" sz="1400" dirty="0"/>
          </a:p>
        </p:txBody>
      </p:sp>
      <p:sp>
        <p:nvSpPr>
          <p:cNvPr id="11" name="Shape 9"/>
          <p:cNvSpPr/>
          <p:nvPr/>
        </p:nvSpPr>
        <p:spPr>
          <a:xfrm>
            <a:off x="6278728" y="2734056"/>
            <a:ext cx="5181448" cy="841248"/>
          </a:xfrm>
          <a:prstGeom prst="roundRect">
            <a:avLst>
              <a:gd name="adj" fmla="val 6522"/>
            </a:avLst>
          </a:prstGeom>
          <a:solidFill>
            <a:srgbClr val="F4F4F4"/>
          </a:solidFill>
          <a:ln/>
        </p:spPr>
        <p:txBody>
          <a:bodyPr/>
          <a:lstStyle/>
          <a:p>
            <a:endParaRPr/>
          </a:p>
        </p:txBody>
      </p:sp>
      <p:sp>
        <p:nvSpPr>
          <p:cNvPr id="12" name="Text 10"/>
          <p:cNvSpPr txBox="1"/>
          <p:nvPr/>
        </p:nvSpPr>
        <p:spPr>
          <a:xfrm>
            <a:off x="6461608" y="2807208"/>
            <a:ext cx="4815688" cy="713232"/>
          </a:xfrm>
          <a:prstGeom prst="rect">
            <a:avLst/>
          </a:prstGeom>
          <a:noFill/>
          <a:ln/>
        </p:spPr>
        <p:txBody>
          <a:bodyPr wrap="square" lIns="0" tIns="0" rIns="0" bIns="0" rtlCol="0" anchor="t"/>
          <a:lstStyle/>
          <a:p>
            <a:pPr marL="0" indent="0">
              <a:buNone/>
            </a:pPr>
            <a:r>
              <a:rPr lang="en-US" sz="1400" b="1" dirty="0">
                <a:solidFill>
                  <a:srgbClr val="FF0000"/>
                </a:solidFill>
                <a:latin typeface="Calibri" pitchFamily="34" charset="0"/>
                <a:ea typeface="Calibri" pitchFamily="34" charset="-122"/>
                <a:cs typeface="Calibri" pitchFamily="34" charset="-120"/>
              </a:rPr>
              <a:t>Qualification
</a:t>
            </a:r>
            <a:r>
              <a:rPr lang="en-US" sz="1200" dirty="0">
                <a:solidFill>
                  <a:srgbClr val="231F20"/>
                </a:solidFill>
                <a:latin typeface="Calibri" pitchFamily="34" charset="0"/>
                <a:ea typeface="Calibri" pitchFamily="34" charset="-122"/>
                <a:cs typeface="Calibri" pitchFamily="34" charset="-120"/>
              </a:rPr>
              <a:t>Stores employee qualifications, positions, requirements, and dates.</a:t>
            </a:r>
            <a:endParaRPr lang="en-US" sz="1400" dirty="0"/>
          </a:p>
        </p:txBody>
      </p:sp>
      <p:sp>
        <p:nvSpPr>
          <p:cNvPr id="13" name="Shape 11"/>
          <p:cNvSpPr/>
          <p:nvPr/>
        </p:nvSpPr>
        <p:spPr>
          <a:xfrm>
            <a:off x="731520" y="3694176"/>
            <a:ext cx="5181448" cy="841248"/>
          </a:xfrm>
          <a:prstGeom prst="roundRect">
            <a:avLst>
              <a:gd name="adj" fmla="val 6522"/>
            </a:avLst>
          </a:prstGeom>
          <a:solidFill>
            <a:srgbClr val="F4F4F4"/>
          </a:solidFill>
          <a:ln/>
        </p:spPr>
        <p:txBody>
          <a:bodyPr/>
          <a:lstStyle/>
          <a:p>
            <a:endParaRPr/>
          </a:p>
        </p:txBody>
      </p:sp>
      <p:sp>
        <p:nvSpPr>
          <p:cNvPr id="14" name="Text 12"/>
          <p:cNvSpPr txBox="1"/>
          <p:nvPr/>
        </p:nvSpPr>
        <p:spPr>
          <a:xfrm>
            <a:off x="914400" y="3767328"/>
            <a:ext cx="4815688" cy="713232"/>
          </a:xfrm>
          <a:prstGeom prst="rect">
            <a:avLst/>
          </a:prstGeom>
          <a:noFill/>
          <a:ln/>
        </p:spPr>
        <p:txBody>
          <a:bodyPr wrap="square" lIns="0" tIns="0" rIns="0" bIns="0" rtlCol="0" anchor="t"/>
          <a:lstStyle/>
          <a:p>
            <a:pPr marL="0" indent="0">
              <a:buNone/>
            </a:pPr>
            <a:r>
              <a:rPr lang="en-US" sz="1400" b="1" dirty="0">
                <a:solidFill>
                  <a:srgbClr val="FF0000"/>
                </a:solidFill>
                <a:latin typeface="Calibri" pitchFamily="34" charset="0"/>
                <a:ea typeface="Calibri" pitchFamily="34" charset="-122"/>
                <a:cs typeface="Calibri" pitchFamily="34" charset="-120"/>
              </a:rPr>
              <a:t>Leaves
</a:t>
            </a:r>
            <a:r>
              <a:rPr lang="en-US" sz="1200" dirty="0">
                <a:solidFill>
                  <a:srgbClr val="231F20"/>
                </a:solidFill>
                <a:latin typeface="Calibri" pitchFamily="34" charset="0"/>
                <a:ea typeface="Calibri" pitchFamily="34" charset="-122"/>
                <a:cs typeface="Calibri" pitchFamily="34" charset="-120"/>
              </a:rPr>
              <a:t>Stores employee leave dates and reasons.</a:t>
            </a:r>
            <a:endParaRPr lang="en-US" sz="1400" dirty="0"/>
          </a:p>
        </p:txBody>
      </p:sp>
      <p:sp>
        <p:nvSpPr>
          <p:cNvPr id="15" name="Shape 13"/>
          <p:cNvSpPr/>
          <p:nvPr/>
        </p:nvSpPr>
        <p:spPr>
          <a:xfrm>
            <a:off x="6278728" y="3694176"/>
            <a:ext cx="5181448" cy="841248"/>
          </a:xfrm>
          <a:prstGeom prst="roundRect">
            <a:avLst>
              <a:gd name="adj" fmla="val 6522"/>
            </a:avLst>
          </a:prstGeom>
          <a:solidFill>
            <a:srgbClr val="F4F4F4"/>
          </a:solidFill>
          <a:ln/>
        </p:spPr>
        <p:txBody>
          <a:bodyPr/>
          <a:lstStyle/>
          <a:p>
            <a:endParaRPr/>
          </a:p>
        </p:txBody>
      </p:sp>
      <p:sp>
        <p:nvSpPr>
          <p:cNvPr id="16" name="Text 14"/>
          <p:cNvSpPr txBox="1"/>
          <p:nvPr/>
        </p:nvSpPr>
        <p:spPr>
          <a:xfrm>
            <a:off x="6461608" y="3767328"/>
            <a:ext cx="4815688" cy="713232"/>
          </a:xfrm>
          <a:prstGeom prst="rect">
            <a:avLst/>
          </a:prstGeom>
          <a:noFill/>
          <a:ln/>
        </p:spPr>
        <p:txBody>
          <a:bodyPr wrap="square" lIns="0" tIns="0" rIns="0" bIns="0" rtlCol="0" anchor="t"/>
          <a:lstStyle/>
          <a:p>
            <a:pPr marL="0" indent="0">
              <a:buNone/>
            </a:pPr>
            <a:r>
              <a:rPr lang="en-US" sz="1400" b="1" dirty="0">
                <a:solidFill>
                  <a:srgbClr val="FF0000"/>
                </a:solidFill>
                <a:latin typeface="Calibri" pitchFamily="34" charset="0"/>
                <a:ea typeface="Calibri" pitchFamily="34" charset="-122"/>
                <a:cs typeface="Calibri" pitchFamily="34" charset="-120"/>
              </a:rPr>
              <a:t>Payroll
</a:t>
            </a:r>
            <a:r>
              <a:rPr lang="en-US" sz="1200" dirty="0">
                <a:solidFill>
                  <a:srgbClr val="231F20"/>
                </a:solidFill>
                <a:latin typeface="Calibri" pitchFamily="34" charset="0"/>
                <a:ea typeface="Calibri" pitchFamily="34" charset="-122"/>
                <a:cs typeface="Calibri" pitchFamily="34" charset="-120"/>
              </a:rPr>
              <a:t>Stores payroll information, salary, leave, and total payment amounts.</a:t>
            </a:r>
            <a:endParaRPr lang="en-US" sz="1400" dirty="0"/>
          </a:p>
        </p:txBody>
      </p:sp>
      <p:sp>
        <p:nvSpPr>
          <p:cNvPr id="17" name="Text 15"/>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8" name="Text 16"/>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8</a:t>
            </a:r>
            <a:endParaRPr lang="en-US" sz="900" dirty="0"/>
          </a:p>
        </p:txBody>
      </p:sp>
      <p:pic>
        <p:nvPicPr>
          <p:cNvPr id="19"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SQL Concepts Used</a:t>
            </a:r>
            <a:endParaRPr lang="en-US" sz="2400" dirty="0"/>
          </a:p>
        </p:txBody>
      </p:sp>
      <p:sp>
        <p:nvSpPr>
          <p:cNvPr id="3" name="Shape 1"/>
          <p:cNvSpPr/>
          <p:nvPr/>
        </p:nvSpPr>
        <p:spPr>
          <a:xfrm>
            <a:off x="502920" y="978408"/>
            <a:ext cx="11185855" cy="0"/>
          </a:xfrm>
          <a:prstGeom prst="line">
            <a:avLst/>
          </a:prstGeom>
          <a:noFill/>
          <a:ln w="12700">
            <a:solidFill>
              <a:srgbClr val="E5E5E5"/>
            </a:solidFill>
            <a:prstDash val="solid"/>
          </a:ln>
        </p:spPr>
        <p:txBody>
          <a:bodyPr/>
          <a:lstStyle/>
          <a:p>
            <a:endParaRPr/>
          </a:p>
        </p:txBody>
      </p:sp>
      <p:sp>
        <p:nvSpPr>
          <p:cNvPr id="4" name="Text 2"/>
          <p:cNvSpPr txBox="1"/>
          <p:nvPr/>
        </p:nvSpPr>
        <p:spPr>
          <a:xfrm>
            <a:off x="731520" y="1225296"/>
            <a:ext cx="10454335" cy="365760"/>
          </a:xfrm>
          <a:prstGeom prst="rect">
            <a:avLst/>
          </a:prstGeom>
          <a:noFill/>
          <a:ln/>
        </p:spPr>
        <p:txBody>
          <a:bodyPr wrap="square" lIns="0" tIns="0" rIns="0" bIns="0" rtlCol="0" anchor="ctr"/>
          <a:lstStyle/>
          <a:p>
            <a:pPr marL="0" indent="0">
              <a:buNone/>
            </a:pPr>
            <a:r>
              <a:rPr lang="en-US" sz="1500" dirty="0">
                <a:solidFill>
                  <a:srgbClr val="231F20"/>
                </a:solidFill>
                <a:latin typeface="Calibri" pitchFamily="34" charset="0"/>
                <a:ea typeface="Calibri" pitchFamily="34" charset="-122"/>
                <a:cs typeface="Calibri" pitchFamily="34" charset="-120"/>
              </a:rPr>
              <a:t>The following SQL concepts were used in the project:</a:t>
            </a:r>
            <a:endParaRPr lang="en-US" sz="1500" dirty="0"/>
          </a:p>
        </p:txBody>
      </p:sp>
      <p:sp>
        <p:nvSpPr>
          <p:cNvPr id="5" name="Shape 3"/>
          <p:cNvSpPr/>
          <p:nvPr/>
        </p:nvSpPr>
        <p:spPr>
          <a:xfrm>
            <a:off x="731520" y="1773936"/>
            <a:ext cx="82296" cy="256032"/>
          </a:xfrm>
          <a:prstGeom prst="rect">
            <a:avLst/>
          </a:prstGeom>
          <a:solidFill>
            <a:srgbClr val="FF0000"/>
          </a:solidFill>
          <a:ln/>
        </p:spPr>
        <p:txBody>
          <a:bodyPr/>
          <a:lstStyle/>
          <a:p>
            <a:endParaRPr/>
          </a:p>
        </p:txBody>
      </p:sp>
      <p:sp>
        <p:nvSpPr>
          <p:cNvPr id="6" name="Text 4"/>
          <p:cNvSpPr txBox="1"/>
          <p:nvPr/>
        </p:nvSpPr>
        <p:spPr>
          <a:xfrm>
            <a:off x="960120" y="1682496"/>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CREATE DATABASE and CREATE TABLE</a:t>
            </a:r>
            <a:endParaRPr lang="en-US" sz="1400" dirty="0"/>
          </a:p>
        </p:txBody>
      </p:sp>
      <p:sp>
        <p:nvSpPr>
          <p:cNvPr id="7" name="Shape 5"/>
          <p:cNvSpPr/>
          <p:nvPr/>
        </p:nvSpPr>
        <p:spPr>
          <a:xfrm>
            <a:off x="6278728" y="1773936"/>
            <a:ext cx="82296" cy="256032"/>
          </a:xfrm>
          <a:prstGeom prst="rect">
            <a:avLst/>
          </a:prstGeom>
          <a:solidFill>
            <a:srgbClr val="FF0000"/>
          </a:solidFill>
          <a:ln/>
        </p:spPr>
        <p:txBody>
          <a:bodyPr/>
          <a:lstStyle/>
          <a:p>
            <a:endParaRPr/>
          </a:p>
        </p:txBody>
      </p:sp>
      <p:sp>
        <p:nvSpPr>
          <p:cNvPr id="8" name="Text 6"/>
          <p:cNvSpPr txBox="1"/>
          <p:nvPr/>
        </p:nvSpPr>
        <p:spPr>
          <a:xfrm>
            <a:off x="6507328" y="1682496"/>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PRIMARY KEY and FOREIGN KEY</a:t>
            </a:r>
            <a:endParaRPr lang="en-US" sz="1400" dirty="0"/>
          </a:p>
        </p:txBody>
      </p:sp>
      <p:sp>
        <p:nvSpPr>
          <p:cNvPr id="9" name="Shape 7"/>
          <p:cNvSpPr/>
          <p:nvPr/>
        </p:nvSpPr>
        <p:spPr>
          <a:xfrm>
            <a:off x="731520" y="2340864"/>
            <a:ext cx="82296" cy="256032"/>
          </a:xfrm>
          <a:prstGeom prst="rect">
            <a:avLst/>
          </a:prstGeom>
          <a:solidFill>
            <a:srgbClr val="FF0000"/>
          </a:solidFill>
          <a:ln/>
        </p:spPr>
        <p:txBody>
          <a:bodyPr/>
          <a:lstStyle/>
          <a:p>
            <a:endParaRPr/>
          </a:p>
        </p:txBody>
      </p:sp>
      <p:sp>
        <p:nvSpPr>
          <p:cNvPr id="10" name="Text 8"/>
          <p:cNvSpPr txBox="1"/>
          <p:nvPr/>
        </p:nvSpPr>
        <p:spPr>
          <a:xfrm>
            <a:off x="960120" y="2249424"/>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SELECT and WHERE</a:t>
            </a:r>
            <a:endParaRPr lang="en-US" sz="1400" dirty="0"/>
          </a:p>
        </p:txBody>
      </p:sp>
      <p:sp>
        <p:nvSpPr>
          <p:cNvPr id="11" name="Shape 9"/>
          <p:cNvSpPr/>
          <p:nvPr/>
        </p:nvSpPr>
        <p:spPr>
          <a:xfrm>
            <a:off x="6278728" y="2340864"/>
            <a:ext cx="82296" cy="256032"/>
          </a:xfrm>
          <a:prstGeom prst="rect">
            <a:avLst/>
          </a:prstGeom>
          <a:solidFill>
            <a:srgbClr val="FF0000"/>
          </a:solidFill>
          <a:ln/>
        </p:spPr>
        <p:txBody>
          <a:bodyPr/>
          <a:lstStyle/>
          <a:p>
            <a:endParaRPr/>
          </a:p>
        </p:txBody>
      </p:sp>
      <p:sp>
        <p:nvSpPr>
          <p:cNvPr id="12" name="Text 10"/>
          <p:cNvSpPr txBox="1"/>
          <p:nvPr/>
        </p:nvSpPr>
        <p:spPr>
          <a:xfrm>
            <a:off x="6507328" y="2249424"/>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COUNT(), SUM(), AVG(), MAX()</a:t>
            </a:r>
            <a:endParaRPr lang="en-US" sz="1400" dirty="0"/>
          </a:p>
        </p:txBody>
      </p:sp>
      <p:sp>
        <p:nvSpPr>
          <p:cNvPr id="13" name="Shape 11"/>
          <p:cNvSpPr/>
          <p:nvPr/>
        </p:nvSpPr>
        <p:spPr>
          <a:xfrm>
            <a:off x="731520" y="2907792"/>
            <a:ext cx="82296" cy="256032"/>
          </a:xfrm>
          <a:prstGeom prst="rect">
            <a:avLst/>
          </a:prstGeom>
          <a:solidFill>
            <a:srgbClr val="FF0000"/>
          </a:solidFill>
          <a:ln/>
        </p:spPr>
        <p:txBody>
          <a:bodyPr/>
          <a:lstStyle/>
          <a:p>
            <a:endParaRPr/>
          </a:p>
        </p:txBody>
      </p:sp>
      <p:sp>
        <p:nvSpPr>
          <p:cNvPr id="14" name="Text 12"/>
          <p:cNvSpPr txBox="1"/>
          <p:nvPr/>
        </p:nvSpPr>
        <p:spPr>
          <a:xfrm>
            <a:off x="960120" y="2816352"/>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GROUP BY and ORDER BY</a:t>
            </a:r>
            <a:endParaRPr lang="en-US" sz="1400" dirty="0"/>
          </a:p>
        </p:txBody>
      </p:sp>
      <p:sp>
        <p:nvSpPr>
          <p:cNvPr id="15" name="Shape 13"/>
          <p:cNvSpPr/>
          <p:nvPr/>
        </p:nvSpPr>
        <p:spPr>
          <a:xfrm>
            <a:off x="6278728" y="2907792"/>
            <a:ext cx="82296" cy="256032"/>
          </a:xfrm>
          <a:prstGeom prst="rect">
            <a:avLst/>
          </a:prstGeom>
          <a:solidFill>
            <a:srgbClr val="FF0000"/>
          </a:solidFill>
          <a:ln/>
        </p:spPr>
        <p:txBody>
          <a:bodyPr/>
          <a:lstStyle/>
          <a:p>
            <a:endParaRPr/>
          </a:p>
        </p:txBody>
      </p:sp>
      <p:sp>
        <p:nvSpPr>
          <p:cNvPr id="16" name="Text 14"/>
          <p:cNvSpPr txBox="1"/>
          <p:nvPr/>
        </p:nvSpPr>
        <p:spPr>
          <a:xfrm>
            <a:off x="6507328" y="2816352"/>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CAST(), REPLACE(), TRIM()</a:t>
            </a:r>
            <a:endParaRPr lang="en-US" sz="1400" dirty="0"/>
          </a:p>
        </p:txBody>
      </p:sp>
      <p:sp>
        <p:nvSpPr>
          <p:cNvPr id="17" name="Shape 15"/>
          <p:cNvSpPr/>
          <p:nvPr/>
        </p:nvSpPr>
        <p:spPr>
          <a:xfrm>
            <a:off x="731520" y="3474720"/>
            <a:ext cx="82296" cy="256032"/>
          </a:xfrm>
          <a:prstGeom prst="rect">
            <a:avLst/>
          </a:prstGeom>
          <a:solidFill>
            <a:srgbClr val="FF0000"/>
          </a:solidFill>
          <a:ln/>
        </p:spPr>
        <p:txBody>
          <a:bodyPr/>
          <a:lstStyle/>
          <a:p>
            <a:endParaRPr/>
          </a:p>
        </p:txBody>
      </p:sp>
      <p:sp>
        <p:nvSpPr>
          <p:cNvPr id="18" name="Text 16"/>
          <p:cNvSpPr txBox="1"/>
          <p:nvPr/>
        </p:nvSpPr>
        <p:spPr>
          <a:xfrm>
            <a:off x="960120" y="3383280"/>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SUBSTRING_INDEX() and ROUND()</a:t>
            </a:r>
            <a:endParaRPr lang="en-US" sz="1400" dirty="0"/>
          </a:p>
        </p:txBody>
      </p:sp>
      <p:sp>
        <p:nvSpPr>
          <p:cNvPr id="19" name="Shape 17"/>
          <p:cNvSpPr/>
          <p:nvPr/>
        </p:nvSpPr>
        <p:spPr>
          <a:xfrm>
            <a:off x="6278728" y="3474720"/>
            <a:ext cx="82296" cy="256032"/>
          </a:xfrm>
          <a:prstGeom prst="rect">
            <a:avLst/>
          </a:prstGeom>
          <a:solidFill>
            <a:srgbClr val="FF0000"/>
          </a:solidFill>
          <a:ln/>
        </p:spPr>
        <p:txBody>
          <a:bodyPr/>
          <a:lstStyle/>
          <a:p>
            <a:endParaRPr/>
          </a:p>
        </p:txBody>
      </p:sp>
      <p:sp>
        <p:nvSpPr>
          <p:cNvPr id="20" name="Text 18"/>
          <p:cNvSpPr txBox="1"/>
          <p:nvPr/>
        </p:nvSpPr>
        <p:spPr>
          <a:xfrm>
            <a:off x="6507328" y="3383280"/>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Window Functions — RANK()</a:t>
            </a:r>
            <a:endParaRPr lang="en-US" sz="1400" dirty="0"/>
          </a:p>
        </p:txBody>
      </p:sp>
      <p:sp>
        <p:nvSpPr>
          <p:cNvPr id="21" name="Shape 19"/>
          <p:cNvSpPr/>
          <p:nvPr/>
        </p:nvSpPr>
        <p:spPr>
          <a:xfrm>
            <a:off x="731520" y="4041648"/>
            <a:ext cx="82296" cy="256032"/>
          </a:xfrm>
          <a:prstGeom prst="rect">
            <a:avLst/>
          </a:prstGeom>
          <a:solidFill>
            <a:srgbClr val="FF0000"/>
          </a:solidFill>
          <a:ln/>
        </p:spPr>
        <p:txBody>
          <a:bodyPr/>
          <a:lstStyle/>
          <a:p>
            <a:endParaRPr/>
          </a:p>
        </p:txBody>
      </p:sp>
      <p:sp>
        <p:nvSpPr>
          <p:cNvPr id="22" name="Text 20"/>
          <p:cNvSpPr txBox="1"/>
          <p:nvPr/>
        </p:nvSpPr>
        <p:spPr>
          <a:xfrm>
            <a:off x="960120" y="3950208"/>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INNER JOIN and LEFT JOIN</a:t>
            </a:r>
            <a:endParaRPr lang="en-US" sz="1400" dirty="0"/>
          </a:p>
        </p:txBody>
      </p:sp>
      <p:sp>
        <p:nvSpPr>
          <p:cNvPr id="23" name="Shape 21"/>
          <p:cNvSpPr/>
          <p:nvPr/>
        </p:nvSpPr>
        <p:spPr>
          <a:xfrm>
            <a:off x="6278728" y="4041648"/>
            <a:ext cx="82296" cy="256032"/>
          </a:xfrm>
          <a:prstGeom prst="rect">
            <a:avLst/>
          </a:prstGeom>
          <a:solidFill>
            <a:srgbClr val="FF0000"/>
          </a:solidFill>
          <a:ln/>
        </p:spPr>
        <p:txBody>
          <a:bodyPr/>
          <a:lstStyle/>
          <a:p>
            <a:endParaRPr/>
          </a:p>
        </p:txBody>
      </p:sp>
      <p:sp>
        <p:nvSpPr>
          <p:cNvPr id="24" name="Text 22"/>
          <p:cNvSpPr txBox="1"/>
          <p:nvPr/>
        </p:nvSpPr>
        <p:spPr>
          <a:xfrm>
            <a:off x="6507328" y="3950208"/>
            <a:ext cx="4952848"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Subqueries (derived tables)</a:t>
            </a:r>
            <a:endParaRPr lang="en-US" sz="1400" dirty="0"/>
          </a:p>
        </p:txBody>
      </p:sp>
      <p:sp>
        <p:nvSpPr>
          <p:cNvPr id="25" name="Text 2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26" name="Text 24"/>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9</a:t>
            </a:r>
            <a:endParaRPr lang="en-US" sz="900" dirty="0"/>
          </a:p>
        </p:txBody>
      </p:sp>
      <p:pic>
        <p:nvPicPr>
          <p:cNvPr id="27"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EMPLOYEE INSIGHTS · QUESTION 1</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How many unique employees are currently in the system?</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777240"/>
          </a:xfrm>
          <a:prstGeom prst="roundRect">
            <a:avLst>
              <a:gd name="adj" fmla="val 5882"/>
            </a:avLst>
          </a:prstGeom>
          <a:solidFill>
            <a:srgbClr val="1A1A1A"/>
          </a:solidFill>
          <a:ln/>
        </p:spPr>
        <p:txBody>
          <a:bodyPr/>
          <a:lstStyle/>
          <a:p>
            <a:endParaRPr/>
          </a:p>
        </p:txBody>
      </p:sp>
      <p:sp>
        <p:nvSpPr>
          <p:cNvPr id="7" name="Text 5"/>
          <p:cNvSpPr txBox="1"/>
          <p:nvPr/>
        </p:nvSpPr>
        <p:spPr>
          <a:xfrm>
            <a:off x="960120" y="1938528"/>
            <a:ext cx="10271455" cy="59436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COUNT(DISTINCT emp_id) AS unique_employees</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employee;</a:t>
            </a:r>
            <a:endParaRPr lang="en-US" sz="1200" dirty="0"/>
          </a:p>
        </p:txBody>
      </p:sp>
      <p:sp>
        <p:nvSpPr>
          <p:cNvPr id="8" name="Text 6"/>
          <p:cNvSpPr txBox="1"/>
          <p:nvPr/>
        </p:nvSpPr>
        <p:spPr>
          <a:xfrm>
            <a:off x="731520" y="285292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sp>
        <p:nvSpPr>
          <p:cNvPr id="9" name="Shape 7"/>
          <p:cNvSpPr/>
          <p:nvPr/>
        </p:nvSpPr>
        <p:spPr>
          <a:xfrm>
            <a:off x="731520" y="3145536"/>
            <a:ext cx="10728655" cy="1371600"/>
          </a:xfrm>
          <a:prstGeom prst="roundRect">
            <a:avLst>
              <a:gd name="adj" fmla="val 3333"/>
            </a:avLst>
          </a:prstGeom>
          <a:solidFill>
            <a:srgbClr val="F4F4F4"/>
          </a:solidFill>
          <a:ln/>
        </p:spPr>
        <p:txBody>
          <a:bodyPr/>
          <a:lstStyle/>
          <a:p>
            <a:endParaRPr/>
          </a:p>
        </p:txBody>
      </p:sp>
      <p:sp>
        <p:nvSpPr>
          <p:cNvPr id="10" name="Text 8"/>
          <p:cNvSpPr txBox="1"/>
          <p:nvPr/>
        </p:nvSpPr>
        <p:spPr>
          <a:xfrm>
            <a:off x="731520" y="3255264"/>
            <a:ext cx="10728655" cy="685800"/>
          </a:xfrm>
          <a:prstGeom prst="rect">
            <a:avLst/>
          </a:prstGeom>
          <a:noFill/>
          <a:ln/>
        </p:spPr>
        <p:txBody>
          <a:bodyPr wrap="square" lIns="0" tIns="0" rIns="0" bIns="0" rtlCol="0" anchor="ctr"/>
          <a:lstStyle/>
          <a:p>
            <a:pPr marL="0" indent="0" algn="ctr">
              <a:buNone/>
            </a:pPr>
            <a:r>
              <a:rPr lang="en-US" sz="3600" b="1" dirty="0">
                <a:solidFill>
                  <a:srgbClr val="C00000"/>
                </a:solidFill>
                <a:latin typeface="Arial" pitchFamily="34" charset="0"/>
                <a:ea typeface="Arial" pitchFamily="34" charset="-122"/>
                <a:cs typeface="Arial" pitchFamily="34" charset="-120"/>
              </a:rPr>
              <a:t>60</a:t>
            </a:r>
            <a:endParaRPr lang="en-US" sz="3600" dirty="0"/>
          </a:p>
        </p:txBody>
      </p:sp>
      <p:sp>
        <p:nvSpPr>
          <p:cNvPr id="11" name="Text 9"/>
          <p:cNvSpPr txBox="1"/>
          <p:nvPr/>
        </p:nvSpPr>
        <p:spPr>
          <a:xfrm>
            <a:off x="1097280" y="3986784"/>
            <a:ext cx="9997135" cy="457200"/>
          </a:xfrm>
          <a:prstGeom prst="rect">
            <a:avLst/>
          </a:prstGeom>
          <a:noFill/>
          <a:ln/>
        </p:spPr>
        <p:txBody>
          <a:bodyPr wrap="square" lIns="0" tIns="0" rIns="0" bIns="0" rtlCol="0" anchor="ctr"/>
          <a:lstStyle/>
          <a:p>
            <a:pPr marL="0" indent="0" algn="ctr">
              <a:buNone/>
            </a:pPr>
            <a:r>
              <a:rPr lang="en-US" sz="1200" i="1" dirty="0">
                <a:solidFill>
                  <a:srgbClr val="6E6E6E"/>
                </a:solidFill>
                <a:latin typeface="Calibri" pitchFamily="34" charset="0"/>
                <a:ea typeface="Calibri" pitchFamily="34" charset="-122"/>
                <a:cs typeface="Calibri" pitchFamily="34" charset="-120"/>
              </a:rPr>
              <a:t>unique_employees — 60 distinct employees are recorded in the Employee table</a:t>
            </a:r>
            <a:endParaRPr lang="en-US" sz="120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3" name="Text 11"/>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10</a:t>
            </a:r>
            <a:endParaRPr lang="en-US" sz="900" dirty="0"/>
          </a:p>
        </p:txBody>
      </p:sp>
      <p:pic>
        <p:nvPicPr>
          <p:cNvPr id="14"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EMPLOYEE INSIGHTS · QUESTION 2</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Which departments have the highest number of employees?</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508760"/>
          </a:xfrm>
          <a:prstGeom prst="roundRect">
            <a:avLst>
              <a:gd name="adj" fmla="val 3030"/>
            </a:avLst>
          </a:prstGeom>
          <a:solidFill>
            <a:srgbClr val="1A1A1A"/>
          </a:solidFill>
          <a:ln/>
        </p:spPr>
        <p:txBody>
          <a:bodyPr/>
          <a:lstStyle/>
          <a:p>
            <a:endParaRPr/>
          </a:p>
        </p:txBody>
      </p:sp>
      <p:sp>
        <p:nvSpPr>
          <p:cNvPr id="7" name="Text 5"/>
          <p:cNvSpPr txBox="1"/>
          <p:nvPr/>
        </p:nvSpPr>
        <p:spPr>
          <a:xfrm>
            <a:off x="960120" y="1938528"/>
            <a:ext cx="10271455" cy="132588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jd.jobdept AS department, COUNT(DISTINCT e.emp_id) AS employee_count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employee 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jobdepartment jd ON e.job_id = jd.job_id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jd.jobdept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employee_count DESC;</a:t>
            </a:r>
            <a:endParaRPr lang="en-US" sz="1200" dirty="0"/>
          </a:p>
        </p:txBody>
      </p:sp>
      <p:sp>
        <p:nvSpPr>
          <p:cNvPr id="8" name="Text 6"/>
          <p:cNvSpPr txBox="1"/>
          <p:nvPr/>
        </p:nvSpPr>
        <p:spPr>
          <a:xfrm>
            <a:off x="731520" y="358444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3877056"/>
          <a:ext cx="10728656" cy="2743200"/>
        </p:xfrm>
        <a:graphic>
          <a:graphicData uri="http://schemas.openxmlformats.org/drawingml/2006/table">
            <a:tbl>
              <a:tblPr/>
              <a:tblGrid>
                <a:gridCol w="5364328">
                  <a:extLst>
                    <a:ext uri="{9D8B030D-6E8A-4147-A177-3AD203B41FA5}">
                      <a16:colId xmlns:a16="http://schemas.microsoft.com/office/drawing/2014/main" val="20000"/>
                    </a:ext>
                  </a:extLst>
                </a:gridCol>
                <a:gridCol w="5364328">
                  <a:extLst>
                    <a:ext uri="{9D8B030D-6E8A-4147-A177-3AD203B41FA5}">
                      <a16:colId xmlns:a16="http://schemas.microsoft.com/office/drawing/2014/main" val="20001"/>
                    </a:ext>
                  </a:extLst>
                </a:gridCol>
              </a:tblGrid>
              <a:tr h="3048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Department</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Employee Count</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Finance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IT</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Marketing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Engineering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Sales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Legal</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0" name="Text 7"/>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9" name="Text 8"/>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11</a:t>
            </a:r>
            <a:endParaRPr lang="en-US" sz="900" dirty="0"/>
          </a:p>
        </p:txBody>
      </p:sp>
      <p:pic>
        <p:nvPicPr>
          <p:cNvPr id="12"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EMPLOYEE INSIGHTS · QUESTION 3</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What is the average salary per department?</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508760"/>
          </a:xfrm>
          <a:prstGeom prst="roundRect">
            <a:avLst>
              <a:gd name="adj" fmla="val 3030"/>
            </a:avLst>
          </a:prstGeom>
          <a:solidFill>
            <a:srgbClr val="1A1A1A"/>
          </a:solidFill>
          <a:ln/>
        </p:spPr>
        <p:txBody>
          <a:bodyPr/>
          <a:lstStyle/>
          <a:p>
            <a:endParaRPr/>
          </a:p>
        </p:txBody>
      </p:sp>
      <p:sp>
        <p:nvSpPr>
          <p:cNvPr id="7" name="Text 5"/>
          <p:cNvSpPr txBox="1"/>
          <p:nvPr/>
        </p:nvSpPr>
        <p:spPr>
          <a:xfrm>
            <a:off x="960120" y="1938528"/>
            <a:ext cx="10271455" cy="132588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jd.jobdept, AVG(sb.annual) AS avg_salary</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jobdepartment jd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salarybonus sb ON jd.job_id = sb.job_id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jd.jobdept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avg_salary DESC;</a:t>
            </a:r>
            <a:endParaRPr lang="en-US" sz="1200" dirty="0"/>
          </a:p>
        </p:txBody>
      </p:sp>
      <p:sp>
        <p:nvSpPr>
          <p:cNvPr id="8" name="Text 6"/>
          <p:cNvSpPr txBox="1"/>
          <p:nvPr/>
        </p:nvSpPr>
        <p:spPr>
          <a:xfrm>
            <a:off x="731520" y="358444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3877056"/>
          <a:ext cx="10728656" cy="2743200"/>
        </p:xfrm>
        <a:graphic>
          <a:graphicData uri="http://schemas.openxmlformats.org/drawingml/2006/table">
            <a:tbl>
              <a:tblPr/>
              <a:tblGrid>
                <a:gridCol w="5364328">
                  <a:extLst>
                    <a:ext uri="{9D8B030D-6E8A-4147-A177-3AD203B41FA5}">
                      <a16:colId xmlns:a16="http://schemas.microsoft.com/office/drawing/2014/main" val="20000"/>
                    </a:ext>
                  </a:extLst>
                </a:gridCol>
                <a:gridCol w="5364328">
                  <a:extLst>
                    <a:ext uri="{9D8B030D-6E8A-4147-A177-3AD203B41FA5}">
                      <a16:colId xmlns:a16="http://schemas.microsoft.com/office/drawing/2014/main" val="20001"/>
                    </a:ext>
                  </a:extLst>
                </a:gridCol>
              </a:tblGrid>
              <a:tr h="3048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Job Dept</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Avg Salary</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Legal</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1,015,200.00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Engineering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973,714.29</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Sales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905,142.86</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Finance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868,000.00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IT</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850,666.67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825,000.00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Marketing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787,500.00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750,857.14</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0" name="Text 7"/>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1" name="Text 8"/>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12</a:t>
            </a:r>
            <a:endParaRPr lang="en-US" sz="900" dirty="0"/>
          </a:p>
        </p:txBody>
      </p:sp>
      <p:pic>
        <p:nvPicPr>
          <p:cNvPr id="9"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EMPLOYEE INSIGHTS · QUESTION 4</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Who are the top 5 highest-paid employees?</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764792"/>
          </a:xfrm>
          <a:prstGeom prst="roundRect">
            <a:avLst>
              <a:gd name="adj" fmla="val 2591"/>
            </a:avLst>
          </a:prstGeom>
          <a:solidFill>
            <a:srgbClr val="1A1A1A"/>
          </a:solidFill>
          <a:ln/>
        </p:spPr>
        <p:txBody>
          <a:bodyPr/>
          <a:lstStyle/>
          <a:p>
            <a:endParaRPr/>
          </a:p>
        </p:txBody>
      </p:sp>
      <p:sp>
        <p:nvSpPr>
          <p:cNvPr id="7" name="Text 5"/>
          <p:cNvSpPr txBox="1"/>
          <p:nvPr/>
        </p:nvSpPr>
        <p:spPr>
          <a:xfrm>
            <a:off x="960120" y="1938528"/>
            <a:ext cx="10271455" cy="1581912"/>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e.emp_id, MAX(sb.annual) AS max_anual_salary</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employee 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salarybonus sb ON e.job_id = sb.job_id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e.emp_id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max_anual_salary DESC</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LIMIT 5;</a:t>
            </a:r>
            <a:endParaRPr lang="en-US" sz="1200" dirty="0"/>
          </a:p>
        </p:txBody>
      </p:sp>
      <p:sp>
        <p:nvSpPr>
          <p:cNvPr id="8" name="Text 6"/>
          <p:cNvSpPr txBox="1"/>
          <p:nvPr/>
        </p:nvSpPr>
        <p:spPr>
          <a:xfrm>
            <a:off x="731520" y="3840480"/>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sp>
        <p:nvSpPr>
          <p:cNvPr id="9" name="Shape 7"/>
          <p:cNvSpPr/>
          <p:nvPr/>
        </p:nvSpPr>
        <p:spPr>
          <a:xfrm>
            <a:off x="731520" y="4133087"/>
            <a:ext cx="10728655" cy="1242801"/>
          </a:xfrm>
          <a:prstGeom prst="roundRect">
            <a:avLst>
              <a:gd name="adj" fmla="val 4545"/>
            </a:avLst>
          </a:prstGeom>
          <a:solidFill>
            <a:srgbClr val="FFF6F6"/>
          </a:solidFill>
          <a:ln w="12700">
            <a:solidFill>
              <a:srgbClr val="F3C9C9"/>
            </a:solidFill>
            <a:prstDash val="solid"/>
          </a:ln>
        </p:spPr>
        <p:txBody>
          <a:bodyPr/>
          <a:lstStyle/>
          <a:p>
            <a:endParaRPr/>
          </a:p>
        </p:txBody>
      </p:sp>
      <p:sp>
        <p:nvSpPr>
          <p:cNvPr id="10" name="Text 8"/>
          <p:cNvSpPr txBox="1"/>
          <p:nvPr/>
        </p:nvSpPr>
        <p:spPr>
          <a:xfrm>
            <a:off x="960120" y="4242816"/>
            <a:ext cx="10271455" cy="804672"/>
          </a:xfrm>
          <a:prstGeom prst="rect">
            <a:avLst/>
          </a:prstGeom>
          <a:noFill/>
          <a:ln/>
        </p:spPr>
        <p:txBody>
          <a:bodyPr wrap="square" lIns="0" tIns="0" rIns="0" bIns="0" rtlCol="0" anchor="t"/>
          <a:lstStyle/>
          <a:p>
            <a:pPr marL="0" indent="0">
              <a:lnSpc>
                <a:spcPct val="120000"/>
              </a:lnSpc>
              <a:buNone/>
            </a:pPr>
            <a:endParaRPr lang="en-US" sz="1250" dirty="0"/>
          </a:p>
        </p:txBody>
      </p:sp>
      <p:sp>
        <p:nvSpPr>
          <p:cNvPr id="11" name="Text 9"/>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2" name="Text 10"/>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13</a:t>
            </a:r>
            <a:endParaRPr lang="en-US" sz="900" dirty="0"/>
          </a:p>
        </p:txBody>
      </p:sp>
      <p:pic>
        <p:nvPicPr>
          <p:cNvPr id="13" name="Image 0" descr="assets/logo.png"/>
          <p:cNvPicPr>
            <a:picLocks noChangeAspect="1"/>
          </p:cNvPicPr>
          <p:nvPr/>
        </p:nvPicPr>
        <p:blipFill>
          <a:blip r:embed="rId3"/>
          <a:stretch>
            <a:fillRect/>
          </a:stretch>
        </p:blipFill>
        <p:spPr>
          <a:xfrm>
            <a:off x="10362895" y="6291072"/>
            <a:ext cx="1508760" cy="315468"/>
          </a:xfrm>
          <a:prstGeom prst="rect">
            <a:avLst/>
          </a:prstGeom>
        </p:spPr>
      </p:pic>
      <p:pic>
        <p:nvPicPr>
          <p:cNvPr id="15" name="Picture 14">
            <a:extLst>
              <a:ext uri="{FF2B5EF4-FFF2-40B4-BE49-F238E27FC236}">
                <a16:creationId xmlns:a16="http://schemas.microsoft.com/office/drawing/2014/main" id="{7D01B86C-884E-E7B2-61B1-B19290478539}"/>
              </a:ext>
            </a:extLst>
          </p:cNvPr>
          <p:cNvPicPr>
            <a:picLocks noChangeAspect="1"/>
          </p:cNvPicPr>
          <p:nvPr/>
        </p:nvPicPr>
        <p:blipFill>
          <a:blip r:embed="rId4"/>
          <a:stretch>
            <a:fillRect/>
          </a:stretch>
        </p:blipFill>
        <p:spPr>
          <a:xfrm>
            <a:off x="771953" y="4133087"/>
            <a:ext cx="1868610" cy="12428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EMPLOYEE INSIGHTS · QUESTION 5</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What is the total salary expenditure across the company?</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996696"/>
          </a:xfrm>
          <a:prstGeom prst="roundRect">
            <a:avLst>
              <a:gd name="adj" fmla="val 4587"/>
            </a:avLst>
          </a:prstGeom>
          <a:solidFill>
            <a:srgbClr val="1A1A1A"/>
          </a:solidFill>
          <a:ln/>
        </p:spPr>
        <p:txBody>
          <a:bodyPr/>
          <a:lstStyle/>
          <a:p>
            <a:endParaRPr/>
          </a:p>
        </p:txBody>
      </p:sp>
      <p:sp>
        <p:nvSpPr>
          <p:cNvPr id="7" name="Text 5"/>
          <p:cNvSpPr txBox="1"/>
          <p:nvPr/>
        </p:nvSpPr>
        <p:spPr>
          <a:xfrm>
            <a:off x="960120" y="1938528"/>
            <a:ext cx="10271455" cy="8138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SUM(sb.annual) AS sum_of_anual_salary</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employee 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salarybonus sb ON e.job_id = sb.job_id;</a:t>
            </a:r>
            <a:endParaRPr lang="en-US" sz="1200" dirty="0"/>
          </a:p>
        </p:txBody>
      </p:sp>
      <p:sp>
        <p:nvSpPr>
          <p:cNvPr id="8" name="Text 6"/>
          <p:cNvSpPr txBox="1"/>
          <p:nvPr/>
        </p:nvSpPr>
        <p:spPr>
          <a:xfrm>
            <a:off x="731520" y="3072384"/>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sp>
        <p:nvSpPr>
          <p:cNvPr id="9" name="Shape 7"/>
          <p:cNvSpPr/>
          <p:nvPr/>
        </p:nvSpPr>
        <p:spPr>
          <a:xfrm>
            <a:off x="731520" y="3364992"/>
            <a:ext cx="10728655" cy="1371600"/>
          </a:xfrm>
          <a:prstGeom prst="roundRect">
            <a:avLst>
              <a:gd name="adj" fmla="val 3333"/>
            </a:avLst>
          </a:prstGeom>
          <a:solidFill>
            <a:srgbClr val="F4F4F4"/>
          </a:solidFill>
          <a:ln/>
        </p:spPr>
        <p:txBody>
          <a:bodyPr/>
          <a:lstStyle/>
          <a:p>
            <a:endParaRPr/>
          </a:p>
        </p:txBody>
      </p:sp>
      <p:sp>
        <p:nvSpPr>
          <p:cNvPr id="10" name="Text 8"/>
          <p:cNvSpPr txBox="1"/>
          <p:nvPr/>
        </p:nvSpPr>
        <p:spPr>
          <a:xfrm>
            <a:off x="731520" y="3474720"/>
            <a:ext cx="10728655" cy="685800"/>
          </a:xfrm>
          <a:prstGeom prst="rect">
            <a:avLst/>
          </a:prstGeom>
          <a:noFill/>
          <a:ln/>
        </p:spPr>
        <p:txBody>
          <a:bodyPr wrap="square" lIns="0" tIns="0" rIns="0" bIns="0" rtlCol="0" anchor="ctr"/>
          <a:lstStyle/>
          <a:p>
            <a:pPr marL="0" indent="0" algn="ctr">
              <a:buNone/>
            </a:pPr>
            <a:r>
              <a:rPr lang="en-US" sz="3600" b="1" dirty="0">
                <a:solidFill>
                  <a:srgbClr val="C00000"/>
                </a:solidFill>
                <a:latin typeface="Arial" pitchFamily="34" charset="0"/>
                <a:ea typeface="Arial" pitchFamily="34" charset="-122"/>
                <a:cs typeface="Arial" pitchFamily="34" charset="-120"/>
              </a:rPr>
              <a:t>₹5,18,52,000.00</a:t>
            </a:r>
            <a:endParaRPr lang="en-US" sz="3600" dirty="0"/>
          </a:p>
        </p:txBody>
      </p:sp>
      <p:sp>
        <p:nvSpPr>
          <p:cNvPr id="11" name="Text 9"/>
          <p:cNvSpPr txBox="1"/>
          <p:nvPr/>
        </p:nvSpPr>
        <p:spPr>
          <a:xfrm>
            <a:off x="1097280" y="4206240"/>
            <a:ext cx="9997135" cy="457200"/>
          </a:xfrm>
          <a:prstGeom prst="rect">
            <a:avLst/>
          </a:prstGeom>
          <a:noFill/>
          <a:ln/>
        </p:spPr>
        <p:txBody>
          <a:bodyPr wrap="square" lIns="0" tIns="0" rIns="0" bIns="0" rtlCol="0" anchor="ctr"/>
          <a:lstStyle/>
          <a:p>
            <a:pPr marL="0" indent="0" algn="ctr">
              <a:buNone/>
            </a:pPr>
            <a:r>
              <a:rPr lang="en-US" sz="1200" i="1" dirty="0">
                <a:solidFill>
                  <a:srgbClr val="6E6E6E"/>
                </a:solidFill>
                <a:latin typeface="Calibri" pitchFamily="34" charset="0"/>
                <a:ea typeface="Calibri" pitchFamily="34" charset="-122"/>
                <a:cs typeface="Calibri" pitchFamily="34" charset="-120"/>
              </a:rPr>
              <a:t>sum_of_anual_salary — total annual salary expenditure across all employees</a:t>
            </a:r>
            <a:endParaRPr lang="en-US" sz="120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3" name="Text 11"/>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14</a:t>
            </a:r>
            <a:endParaRPr lang="en-US" sz="900" dirty="0"/>
          </a:p>
        </p:txBody>
      </p:sp>
      <p:pic>
        <p:nvPicPr>
          <p:cNvPr id="14"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JOB ROLE &amp; DEPARTMENT ANALYSIS · QUESTION 6</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How many different job roles exist in each department?</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252728"/>
          </a:xfrm>
          <a:prstGeom prst="roundRect">
            <a:avLst>
              <a:gd name="adj" fmla="val 3650"/>
            </a:avLst>
          </a:prstGeom>
          <a:solidFill>
            <a:srgbClr val="1A1A1A"/>
          </a:solidFill>
          <a:ln/>
        </p:spPr>
        <p:txBody>
          <a:bodyPr/>
          <a:lstStyle/>
          <a:p>
            <a:endParaRPr/>
          </a:p>
        </p:txBody>
      </p:sp>
      <p:sp>
        <p:nvSpPr>
          <p:cNvPr id="7" name="Text 5"/>
          <p:cNvSpPr txBox="1"/>
          <p:nvPr/>
        </p:nvSpPr>
        <p:spPr>
          <a:xfrm>
            <a:off x="960120" y="1938528"/>
            <a:ext cx="10271455" cy="1069848"/>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jobdept, COUNT(DISTINCT name)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jobdepartment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jobdept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COUNT(DISTINCT name) DESC;</a:t>
            </a:r>
            <a:endParaRPr lang="en-US" sz="1200" dirty="0"/>
          </a:p>
        </p:txBody>
      </p:sp>
      <p:sp>
        <p:nvSpPr>
          <p:cNvPr id="8" name="Text 6"/>
          <p:cNvSpPr txBox="1"/>
          <p:nvPr/>
        </p:nvSpPr>
        <p:spPr>
          <a:xfrm>
            <a:off x="731520" y="3328416"/>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3621024"/>
          <a:ext cx="10728656" cy="2743200"/>
        </p:xfrm>
        <a:graphic>
          <a:graphicData uri="http://schemas.openxmlformats.org/drawingml/2006/table">
            <a:tbl>
              <a:tblPr/>
              <a:tblGrid>
                <a:gridCol w="5364328">
                  <a:extLst>
                    <a:ext uri="{9D8B030D-6E8A-4147-A177-3AD203B41FA5}">
                      <a16:colId xmlns:a16="http://schemas.microsoft.com/office/drawing/2014/main" val="20000"/>
                    </a:ext>
                  </a:extLst>
                </a:gridCol>
                <a:gridCol w="5364328">
                  <a:extLst>
                    <a:ext uri="{9D8B030D-6E8A-4147-A177-3AD203B41FA5}">
                      <a16:colId xmlns:a16="http://schemas.microsoft.com/office/drawing/2014/main" val="20001"/>
                    </a:ext>
                  </a:extLst>
                </a:gridCol>
              </a:tblGrid>
              <a:tr h="3048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Job Dept</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Distinct Job Roles</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Finance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IT</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Engineering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Marketing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Sales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Legal</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0" name="Text 7"/>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1" name="Text 8"/>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15</a:t>
            </a:r>
            <a:endParaRPr lang="en-US" sz="900" dirty="0"/>
          </a:p>
        </p:txBody>
      </p:sp>
      <p:pic>
        <p:nvPicPr>
          <p:cNvPr id="12"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JOB ROLE &amp; DEPARTMENT ANALYSIS · QUESTION 7</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Which job roles offer the highest salary?</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508760"/>
          </a:xfrm>
          <a:prstGeom prst="roundRect">
            <a:avLst>
              <a:gd name="adj" fmla="val 3030"/>
            </a:avLst>
          </a:prstGeom>
          <a:solidFill>
            <a:srgbClr val="1A1A1A"/>
          </a:solidFill>
          <a:ln/>
        </p:spPr>
        <p:txBody>
          <a:bodyPr/>
          <a:lstStyle/>
          <a:p>
            <a:endParaRPr/>
          </a:p>
        </p:txBody>
      </p:sp>
      <p:sp>
        <p:nvSpPr>
          <p:cNvPr id="7" name="Text 5"/>
          <p:cNvSpPr txBox="1"/>
          <p:nvPr/>
        </p:nvSpPr>
        <p:spPr>
          <a:xfrm>
            <a:off x="960120" y="1938528"/>
            <a:ext cx="10271455" cy="132588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jd.jobdept, MAX(sb.annual) AS max_salary</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jobdepartment jd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salarybonus sb ON jd.job_id = sb.job_id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jd.jobdept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max_salary DESC;</a:t>
            </a:r>
            <a:endParaRPr lang="en-US" sz="1200" dirty="0"/>
          </a:p>
        </p:txBody>
      </p:sp>
      <p:sp>
        <p:nvSpPr>
          <p:cNvPr id="8" name="Text 6"/>
          <p:cNvSpPr txBox="1"/>
          <p:nvPr/>
        </p:nvSpPr>
        <p:spPr>
          <a:xfrm>
            <a:off x="731520" y="358444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3877056"/>
          <a:ext cx="10728656" cy="2743200"/>
        </p:xfrm>
        <a:graphic>
          <a:graphicData uri="http://schemas.openxmlformats.org/drawingml/2006/table">
            <a:tbl>
              <a:tblPr/>
              <a:tblGrid>
                <a:gridCol w="5364328">
                  <a:extLst>
                    <a:ext uri="{9D8B030D-6E8A-4147-A177-3AD203B41FA5}">
                      <a16:colId xmlns:a16="http://schemas.microsoft.com/office/drawing/2014/main" val="20000"/>
                    </a:ext>
                  </a:extLst>
                </a:gridCol>
                <a:gridCol w="5364328">
                  <a:extLst>
                    <a:ext uri="{9D8B030D-6E8A-4147-A177-3AD203B41FA5}">
                      <a16:colId xmlns:a16="http://schemas.microsoft.com/office/drawing/2014/main" val="20001"/>
                    </a:ext>
                  </a:extLst>
                </a:gridCol>
              </a:tblGrid>
              <a:tr h="3048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Job Dept</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Max Salary</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Finance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20,40,000.00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Engineering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19,20,000.00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IT</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18,00,000.00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Marketing</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18,00,000.00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Sales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16,80,000.00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16,20,000.00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Legal</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15,60,000.00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4800">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14,40,000.00</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0" name="Text 7"/>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1" name="Text 8"/>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16</a:t>
            </a:r>
            <a:endParaRPr lang="en-US" sz="900" dirty="0"/>
          </a:p>
        </p:txBody>
      </p:sp>
      <p:pic>
        <p:nvPicPr>
          <p:cNvPr id="12"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QUALIFICATION &amp; SKILLS ANALYSIS · QUESTION 8</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Which employees have the highest number of qualifications?</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508760"/>
          </a:xfrm>
          <a:prstGeom prst="roundRect">
            <a:avLst>
              <a:gd name="adj" fmla="val 3030"/>
            </a:avLst>
          </a:prstGeom>
          <a:solidFill>
            <a:srgbClr val="1A1A1A"/>
          </a:solidFill>
          <a:ln/>
        </p:spPr>
        <p:txBody>
          <a:bodyPr/>
          <a:lstStyle/>
          <a:p>
            <a:endParaRPr/>
          </a:p>
        </p:txBody>
      </p:sp>
      <p:sp>
        <p:nvSpPr>
          <p:cNvPr id="7" name="Text 5"/>
          <p:cNvSpPr txBox="1"/>
          <p:nvPr/>
        </p:nvSpPr>
        <p:spPr>
          <a:xfrm>
            <a:off x="960120" y="1938528"/>
            <a:ext cx="10271455" cy="132588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e.emp_id, e.firstname, e.lastname, COUNT(*) AS total_count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employee 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qualification q ON e.emp_id = q.emp_id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e.emp_id, e.firstname, e.lastname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total_count DESC;</a:t>
            </a:r>
            <a:endParaRPr lang="en-US" sz="1200" dirty="0"/>
          </a:p>
        </p:txBody>
      </p:sp>
      <p:sp>
        <p:nvSpPr>
          <p:cNvPr id="8" name="Text 6"/>
          <p:cNvSpPr txBox="1"/>
          <p:nvPr/>
        </p:nvSpPr>
        <p:spPr>
          <a:xfrm>
            <a:off x="731520" y="358444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3188353415"/>
              </p:ext>
            </p:extLst>
          </p:nvPr>
        </p:nvGraphicFramePr>
        <p:xfrm>
          <a:off x="731520" y="3886387"/>
          <a:ext cx="10728656" cy="2176272"/>
        </p:xfrm>
        <a:graphic>
          <a:graphicData uri="http://schemas.openxmlformats.org/drawingml/2006/table">
            <a:tbl>
              <a:tblPr/>
              <a:tblGrid>
                <a:gridCol w="2682164">
                  <a:extLst>
                    <a:ext uri="{9D8B030D-6E8A-4147-A177-3AD203B41FA5}">
                      <a16:colId xmlns:a16="http://schemas.microsoft.com/office/drawing/2014/main" val="20000"/>
                    </a:ext>
                  </a:extLst>
                </a:gridCol>
                <a:gridCol w="2682164">
                  <a:extLst>
                    <a:ext uri="{9D8B030D-6E8A-4147-A177-3AD203B41FA5}">
                      <a16:colId xmlns:a16="http://schemas.microsoft.com/office/drawing/2014/main" val="20001"/>
                    </a:ext>
                  </a:extLst>
                </a:gridCol>
                <a:gridCol w="2682164">
                  <a:extLst>
                    <a:ext uri="{9D8B030D-6E8A-4147-A177-3AD203B41FA5}">
                      <a16:colId xmlns:a16="http://schemas.microsoft.com/office/drawing/2014/main" val="20002"/>
                    </a:ext>
                  </a:extLst>
                </a:gridCol>
                <a:gridCol w="2682164">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Emp ID</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First Name</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Last Name</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Total Count</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10896">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John</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Doe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Jane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Smith</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Alice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Brown</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Bob</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Johnson</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Charlie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Williams</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Dave</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Miller</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Text 7"/>
          <p:cNvSpPr txBox="1"/>
          <p:nvPr/>
        </p:nvSpPr>
        <p:spPr>
          <a:xfrm>
            <a:off x="731520" y="6163056"/>
            <a:ext cx="10728655" cy="502920"/>
          </a:xfrm>
          <a:prstGeom prst="rect">
            <a:avLst/>
          </a:prstGeom>
          <a:noFill/>
          <a:ln/>
        </p:spPr>
        <p:txBody>
          <a:bodyPr wrap="square" lIns="0" tIns="0" rIns="0" bIns="0" rtlCol="0" anchor="ctr"/>
          <a:lstStyle/>
          <a:p>
            <a:pPr marL="0" indent="0">
              <a:buNone/>
            </a:pPr>
            <a:r>
              <a:rPr lang="en-US" sz="1100" i="1" dirty="0">
                <a:solidFill>
                  <a:srgbClr val="6E6E6E"/>
                </a:solidFill>
                <a:latin typeface="Calibri" pitchFamily="34" charset="0"/>
                <a:ea typeface="Calibri" pitchFamily="34" charset="-122"/>
                <a:cs typeface="Calibri" pitchFamily="34" charset="-120"/>
              </a:rPr>
              <a:t>Sample of 60 rows — every employee currently has exactly one qualification on record (a 60-way tie), so no single employee stands out with more than one.</a:t>
            </a:r>
            <a:endParaRPr lang="en-US" sz="1100" dirty="0"/>
          </a:p>
        </p:txBody>
      </p:sp>
      <p:sp>
        <p:nvSpPr>
          <p:cNvPr id="11" name="Text 8"/>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2" name="Text 9"/>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17</a:t>
            </a:r>
            <a:endParaRPr lang="en-US" sz="900" dirty="0"/>
          </a:p>
        </p:txBody>
      </p:sp>
      <p:pic>
        <p:nvPicPr>
          <p:cNvPr id="13"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LEAVE &amp; ABSENCE PATTERNS · QUESTION 9</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Which employees have taken the most leaves?</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764792"/>
          </a:xfrm>
          <a:prstGeom prst="roundRect">
            <a:avLst>
              <a:gd name="adj" fmla="val 2591"/>
            </a:avLst>
          </a:prstGeom>
          <a:solidFill>
            <a:srgbClr val="1A1A1A"/>
          </a:solidFill>
          <a:ln/>
        </p:spPr>
        <p:txBody>
          <a:bodyPr/>
          <a:lstStyle/>
          <a:p>
            <a:endParaRPr/>
          </a:p>
        </p:txBody>
      </p:sp>
      <p:sp>
        <p:nvSpPr>
          <p:cNvPr id="7" name="Text 5"/>
          <p:cNvSpPr txBox="1"/>
          <p:nvPr/>
        </p:nvSpPr>
        <p:spPr>
          <a:xfrm>
            <a:off x="960120" y="1938528"/>
            <a:ext cx="10271455" cy="1581912"/>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e.emp_ID, e.firstname, e.lastname, COUNT(l.leave_ID) AS total_leaves</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employee 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leaves l ON e.emp_ID = l.emp_ID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e.emp_ID, e.firstname, e.lastname</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total_leaves DESC</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LIMIT 5;</a:t>
            </a:r>
            <a:endParaRPr lang="en-US" sz="1200" dirty="0"/>
          </a:p>
        </p:txBody>
      </p:sp>
      <p:sp>
        <p:nvSpPr>
          <p:cNvPr id="8" name="Text 6"/>
          <p:cNvSpPr txBox="1"/>
          <p:nvPr/>
        </p:nvSpPr>
        <p:spPr>
          <a:xfrm>
            <a:off x="731520" y="3840480"/>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sp>
        <p:nvSpPr>
          <p:cNvPr id="9" name="Shape 7"/>
          <p:cNvSpPr/>
          <p:nvPr/>
        </p:nvSpPr>
        <p:spPr>
          <a:xfrm>
            <a:off x="731520" y="4133087"/>
            <a:ext cx="10728655" cy="1465279"/>
          </a:xfrm>
          <a:prstGeom prst="roundRect">
            <a:avLst>
              <a:gd name="adj" fmla="val 4545"/>
            </a:avLst>
          </a:prstGeom>
          <a:solidFill>
            <a:srgbClr val="FFF6F6"/>
          </a:solidFill>
          <a:ln w="12700">
            <a:solidFill>
              <a:srgbClr val="F3C9C9"/>
            </a:solidFill>
            <a:prstDash val="solid"/>
          </a:ln>
        </p:spPr>
        <p:txBody>
          <a:bodyPr/>
          <a:lstStyle/>
          <a:p>
            <a:endParaRPr/>
          </a:p>
        </p:txBody>
      </p:sp>
      <p:sp>
        <p:nvSpPr>
          <p:cNvPr id="11" name="Text 9"/>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2" name="Text 10"/>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18</a:t>
            </a:r>
            <a:endParaRPr lang="en-US" sz="900" dirty="0"/>
          </a:p>
        </p:txBody>
      </p:sp>
      <p:pic>
        <p:nvPicPr>
          <p:cNvPr id="13" name="Image 0" descr="assets/logo.png"/>
          <p:cNvPicPr>
            <a:picLocks noChangeAspect="1"/>
          </p:cNvPicPr>
          <p:nvPr/>
        </p:nvPicPr>
        <p:blipFill>
          <a:blip r:embed="rId3"/>
          <a:stretch>
            <a:fillRect/>
          </a:stretch>
        </p:blipFill>
        <p:spPr>
          <a:xfrm>
            <a:off x="10362895" y="6291072"/>
            <a:ext cx="1508760" cy="315468"/>
          </a:xfrm>
          <a:prstGeom prst="rect">
            <a:avLst/>
          </a:prstGeom>
        </p:spPr>
      </p:pic>
      <p:pic>
        <p:nvPicPr>
          <p:cNvPr id="15" name="Picture 14">
            <a:extLst>
              <a:ext uri="{FF2B5EF4-FFF2-40B4-BE49-F238E27FC236}">
                <a16:creationId xmlns:a16="http://schemas.microsoft.com/office/drawing/2014/main" id="{907D04BA-0560-DB0E-680D-81E54FC599E4}"/>
              </a:ext>
            </a:extLst>
          </p:cNvPr>
          <p:cNvPicPr>
            <a:picLocks noChangeAspect="1"/>
          </p:cNvPicPr>
          <p:nvPr/>
        </p:nvPicPr>
        <p:blipFill>
          <a:blip r:embed="rId4"/>
          <a:stretch>
            <a:fillRect/>
          </a:stretch>
        </p:blipFill>
        <p:spPr>
          <a:xfrm>
            <a:off x="960119" y="4133088"/>
            <a:ext cx="3410139" cy="1399032"/>
          </a:xfrm>
          <a:prstGeom prst="rect">
            <a:avLst/>
          </a:prstGeom>
        </p:spPr>
      </p:pic>
      <p:sp>
        <p:nvSpPr>
          <p:cNvPr id="16" name="TextBox 15">
            <a:extLst>
              <a:ext uri="{FF2B5EF4-FFF2-40B4-BE49-F238E27FC236}">
                <a16:creationId xmlns:a16="http://schemas.microsoft.com/office/drawing/2014/main" id="{ED69B324-8010-87E8-0163-A9B57409D7CC}"/>
              </a:ext>
            </a:extLst>
          </p:cNvPr>
          <p:cNvSpPr txBox="1"/>
          <p:nvPr/>
        </p:nvSpPr>
        <p:spPr>
          <a:xfrm>
            <a:off x="2024743" y="5915608"/>
            <a:ext cx="7306680" cy="307777"/>
          </a:xfrm>
          <a:prstGeom prst="rect">
            <a:avLst/>
          </a:prstGeom>
          <a:noFill/>
        </p:spPr>
        <p:txBody>
          <a:bodyPr wrap="none" rtlCol="0">
            <a:spAutoFit/>
          </a:bodyPr>
          <a:lstStyle/>
          <a:p>
            <a:r>
              <a:rPr lang="en-IN" sz="1400" dirty="0"/>
              <a:t>All 5 employees have </a:t>
            </a:r>
            <a:r>
              <a:rPr lang="en-IN" sz="1400" b="1" dirty="0"/>
              <a:t>1 total leave</a:t>
            </a:r>
            <a:r>
              <a:rPr lang="en-IN" sz="1400" dirty="0"/>
              <a:t>, indicting an equal number of leaves taken by each employee.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PAYROLL &amp; COMPENSATION ANALYSIS · QUESTION 10</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Which department receives the highest total bonuses?</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764792"/>
          </a:xfrm>
          <a:prstGeom prst="roundRect">
            <a:avLst>
              <a:gd name="adj" fmla="val 2591"/>
            </a:avLst>
          </a:prstGeom>
          <a:solidFill>
            <a:srgbClr val="1A1A1A"/>
          </a:solidFill>
          <a:ln/>
        </p:spPr>
        <p:txBody>
          <a:bodyPr/>
          <a:lstStyle/>
          <a:p>
            <a:endParaRPr/>
          </a:p>
        </p:txBody>
      </p:sp>
      <p:sp>
        <p:nvSpPr>
          <p:cNvPr id="7" name="Text 5"/>
          <p:cNvSpPr txBox="1"/>
          <p:nvPr/>
        </p:nvSpPr>
        <p:spPr>
          <a:xfrm>
            <a:off x="960120" y="1938528"/>
            <a:ext cx="10271455" cy="1581912"/>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SELECT jd.jobdept AS department, SUM(sb.bonus) AS total_bonus</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FROM jobdepartment jd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JOIN salarybonus sb ON jd.job_id = sb.job_id</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GROUP BY jd.jobdept</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ORDER BY total_bonus DESC</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LIMIT 1;</a:t>
            </a:r>
            <a:endParaRPr lang="en-US" sz="1200" dirty="0"/>
          </a:p>
        </p:txBody>
      </p:sp>
      <p:sp>
        <p:nvSpPr>
          <p:cNvPr id="8" name="Text 6"/>
          <p:cNvSpPr txBox="1"/>
          <p:nvPr/>
        </p:nvSpPr>
        <p:spPr>
          <a:xfrm>
            <a:off x="731520" y="3840480"/>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sp>
        <p:nvSpPr>
          <p:cNvPr id="9" name="Shape 7"/>
          <p:cNvSpPr/>
          <p:nvPr/>
        </p:nvSpPr>
        <p:spPr>
          <a:xfrm>
            <a:off x="731520" y="4133088"/>
            <a:ext cx="10728655" cy="1005840"/>
          </a:xfrm>
          <a:prstGeom prst="roundRect">
            <a:avLst>
              <a:gd name="adj" fmla="val 4545"/>
            </a:avLst>
          </a:prstGeom>
          <a:solidFill>
            <a:srgbClr val="FFF6F6"/>
          </a:solidFill>
          <a:ln w="12700">
            <a:solidFill>
              <a:srgbClr val="F3C9C9"/>
            </a:solidFill>
            <a:prstDash val="solid"/>
          </a:ln>
        </p:spPr>
        <p:txBody>
          <a:bodyPr/>
          <a:lstStyle/>
          <a:p>
            <a:endParaRPr/>
          </a:p>
        </p:txBody>
      </p:sp>
      <p:sp>
        <p:nvSpPr>
          <p:cNvPr id="10" name="Text 8"/>
          <p:cNvSpPr txBox="1"/>
          <p:nvPr/>
        </p:nvSpPr>
        <p:spPr>
          <a:xfrm>
            <a:off x="731520" y="4176942"/>
            <a:ext cx="10271455" cy="804672"/>
          </a:xfrm>
          <a:prstGeom prst="rect">
            <a:avLst/>
          </a:prstGeom>
          <a:noFill/>
          <a:ln/>
        </p:spPr>
        <p:txBody>
          <a:bodyPr wrap="square" lIns="0" tIns="0" rIns="0" bIns="0" rtlCol="0" anchor="t"/>
          <a:lstStyle/>
          <a:p>
            <a:pPr marL="0" indent="0">
              <a:lnSpc>
                <a:spcPct val="120000"/>
              </a:lnSpc>
              <a:buNone/>
            </a:pPr>
            <a:endParaRPr lang="en-US" sz="1250" dirty="0"/>
          </a:p>
        </p:txBody>
      </p:sp>
      <p:sp>
        <p:nvSpPr>
          <p:cNvPr id="11" name="Text 9"/>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2" name="Text 10"/>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19</a:t>
            </a:r>
            <a:endParaRPr lang="en-US" sz="900" dirty="0"/>
          </a:p>
        </p:txBody>
      </p:sp>
      <p:pic>
        <p:nvPicPr>
          <p:cNvPr id="13" name="Image 0" descr="assets/logo.png"/>
          <p:cNvPicPr>
            <a:picLocks noChangeAspect="1"/>
          </p:cNvPicPr>
          <p:nvPr/>
        </p:nvPicPr>
        <p:blipFill>
          <a:blip r:embed="rId3"/>
          <a:stretch>
            <a:fillRect/>
          </a:stretch>
        </p:blipFill>
        <p:spPr>
          <a:xfrm>
            <a:off x="10362895" y="6291072"/>
            <a:ext cx="1508760" cy="315468"/>
          </a:xfrm>
          <a:prstGeom prst="rect">
            <a:avLst/>
          </a:prstGeom>
        </p:spPr>
      </p:pic>
      <p:pic>
        <p:nvPicPr>
          <p:cNvPr id="14" name="Picture 13">
            <a:extLst>
              <a:ext uri="{FF2B5EF4-FFF2-40B4-BE49-F238E27FC236}">
                <a16:creationId xmlns:a16="http://schemas.microsoft.com/office/drawing/2014/main" id="{F559A479-9789-E743-B034-35E3DB127E4D}"/>
              </a:ext>
            </a:extLst>
          </p:cNvPr>
          <p:cNvPicPr>
            <a:picLocks noChangeAspect="1"/>
          </p:cNvPicPr>
          <p:nvPr/>
        </p:nvPicPr>
        <p:blipFill>
          <a:blip r:embed="rId4"/>
          <a:stretch>
            <a:fillRect/>
          </a:stretch>
        </p:blipFill>
        <p:spPr>
          <a:xfrm>
            <a:off x="731520" y="4116234"/>
            <a:ext cx="2282268" cy="10058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292608"/>
          </a:xfrm>
          <a:prstGeom prst="rect">
            <a:avLst/>
          </a:prstGeom>
          <a:noFill/>
          <a:ln/>
        </p:spPr>
        <p:txBody>
          <a:bodyPr wrap="square" lIns="0" tIns="0" rIns="0" bIns="0" rtlCol="0" anchor="ctr"/>
          <a:lstStyle/>
          <a:p>
            <a:pPr marL="0" indent="0">
              <a:buNone/>
            </a:pPr>
            <a:r>
              <a:rPr lang="en-US" sz="1300" b="1" kern="0" spc="100" dirty="0">
                <a:solidFill>
                  <a:srgbClr val="FF0000"/>
                </a:solidFill>
                <a:latin typeface="Arial" pitchFamily="34" charset="0"/>
                <a:ea typeface="Arial" pitchFamily="34" charset="-122"/>
                <a:cs typeface="Arial" pitchFamily="34" charset="-120"/>
              </a:rPr>
              <a:t>EMPLOYEE RANKING ANALYSIS · QUESTION 11 (1/4)</a:t>
            </a:r>
            <a:endParaRPr lang="en-US" sz="1300" dirty="0"/>
          </a:p>
        </p:txBody>
      </p:sp>
      <p:sp>
        <p:nvSpPr>
          <p:cNvPr id="3" name="Text 1"/>
          <p:cNvSpPr txBox="1"/>
          <p:nvPr/>
        </p:nvSpPr>
        <p:spPr>
          <a:xfrm>
            <a:off x="502920" y="758952"/>
            <a:ext cx="11185855" cy="566928"/>
          </a:xfrm>
          <a:prstGeom prst="rect">
            <a:avLst/>
          </a:prstGeom>
          <a:noFill/>
          <a:ln/>
        </p:spPr>
        <p:txBody>
          <a:bodyPr wrap="square" lIns="0" tIns="0" rIns="0" bIns="0" rtlCol="0" anchor="ctr"/>
          <a:lstStyle/>
          <a:p>
            <a:pPr marL="0" indent="0">
              <a:buNone/>
            </a:pPr>
            <a:r>
              <a:rPr lang="en-US" sz="2000" b="1" dirty="0">
                <a:solidFill>
                  <a:srgbClr val="231F20"/>
                </a:solidFill>
                <a:latin typeface="Arial" pitchFamily="34" charset="0"/>
                <a:ea typeface="Arial" pitchFamily="34" charset="-122"/>
                <a:cs typeface="Arial" pitchFamily="34" charset="-120"/>
              </a:rPr>
              <a:t>How are employees ranked by annual salary within each department?</a:t>
            </a:r>
            <a:endParaRPr lang="en-US" sz="2400" dirty="0"/>
          </a:p>
        </p:txBody>
      </p:sp>
      <p:sp>
        <p:nvSpPr>
          <p:cNvPr id="4" name="Shape 2"/>
          <p:cNvSpPr/>
          <p:nvPr/>
        </p:nvSpPr>
        <p:spPr>
          <a:xfrm>
            <a:off x="502920" y="1325880"/>
            <a:ext cx="11185855" cy="0"/>
          </a:xfrm>
          <a:prstGeom prst="line">
            <a:avLst/>
          </a:prstGeom>
          <a:noFill/>
          <a:ln w="12700">
            <a:solidFill>
              <a:srgbClr val="E5E5E5"/>
            </a:solidFill>
            <a:prstDash val="solid"/>
          </a:ln>
        </p:spPr>
        <p:txBody>
          <a:bodyPr/>
          <a:lstStyle/>
          <a:p>
            <a:endParaRPr/>
          </a:p>
        </p:txBody>
      </p:sp>
      <p:sp>
        <p:nvSpPr>
          <p:cNvPr id="5" name="Text 3"/>
          <p:cNvSpPr txBox="1"/>
          <p:nvPr/>
        </p:nvSpPr>
        <p:spPr>
          <a:xfrm>
            <a:off x="731520" y="157276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SQL QUERY</a:t>
            </a:r>
            <a:endParaRPr lang="en-US" sz="1100" dirty="0"/>
          </a:p>
        </p:txBody>
      </p:sp>
      <p:sp>
        <p:nvSpPr>
          <p:cNvPr id="6" name="Shape 4"/>
          <p:cNvSpPr/>
          <p:nvPr/>
        </p:nvSpPr>
        <p:spPr>
          <a:xfrm>
            <a:off x="731520" y="1847088"/>
            <a:ext cx="10728655" cy="1080000"/>
          </a:xfrm>
          <a:prstGeom prst="roundRect">
            <a:avLst>
              <a:gd name="adj" fmla="val 2591"/>
            </a:avLst>
          </a:prstGeom>
          <a:solidFill>
            <a:srgbClr val="1A1A1A"/>
          </a:solidFill>
          <a:ln/>
        </p:spPr>
        <p:txBody>
          <a:bodyPr/>
          <a:lstStyle/>
          <a:p>
            <a:endParaRPr/>
          </a:p>
        </p:txBody>
      </p:sp>
      <p:sp>
        <p:nvSpPr>
          <p:cNvPr id="7" name="Text 5"/>
          <p:cNvSpPr txBox="1"/>
          <p:nvPr/>
        </p:nvSpPr>
        <p:spPr>
          <a:xfrm>
            <a:off x="960120" y="1938528"/>
            <a:ext cx="10271455" cy="988560"/>
          </a:xfrm>
          <a:prstGeom prst="rect">
            <a:avLst/>
          </a:prstGeom>
          <a:noFill/>
          <a:ln/>
        </p:spPr>
        <p:txBody>
          <a:bodyPr wrap="square" lIns="0" tIns="0" rIns="0" bIns="0" rtlCol="0" anchor="t"/>
          <a:lstStyle/>
          <a:p>
            <a:pPr marL="0" indent="0">
              <a:lnSpc>
                <a:spcPct val="110000"/>
              </a:lnSpc>
              <a:buNone/>
            </a:pPr>
            <a:r>
              <a:rPr lang="en-US" sz="1100" dirty="0">
                <a:solidFill>
                  <a:srgbClr val="FFFFFF"/>
                </a:solidFill>
                <a:latin typeface="Courier New" pitchFamily="34" charset="0"/>
                <a:ea typeface="Courier New" pitchFamily="34" charset="-122"/>
                <a:cs typeface="Courier New" pitchFamily="34" charset="-120"/>
              </a:rPr>
              <a:t>SELECT e.emp_id, e.firstname, e.lastname, jd.jobdept AS department, sb.annual,</a:t>
            </a:r>
          </a:p>
          <a:p>
            <a:pPr marL="0" indent="0">
              <a:lnSpc>
                <a:spcPct val="110000"/>
              </a:lnSpc>
              <a:buNone/>
            </a:pPr>
            <a:r>
              <a:rPr lang="en-US" sz="1100" dirty="0">
                <a:solidFill>
                  <a:srgbClr val="FFFFFF"/>
                </a:solidFill>
                <a:latin typeface="Courier New" pitchFamily="34" charset="0"/>
                <a:ea typeface="Courier New" pitchFamily="34" charset="-122"/>
                <a:cs typeface="Courier New" pitchFamily="34" charset="-120"/>
              </a:rPr>
              <a:t>RANK() OVER (PARTITION BY jd.jobdept ORDER BY sb.annual DESC) AS department_rank</a:t>
            </a:r>
          </a:p>
          <a:p>
            <a:pPr marL="0" indent="0">
              <a:lnSpc>
                <a:spcPct val="110000"/>
              </a:lnSpc>
              <a:buNone/>
            </a:pPr>
            <a:r>
              <a:rPr lang="en-US" sz="1100" dirty="0">
                <a:solidFill>
                  <a:srgbClr val="FFFFFF"/>
                </a:solidFill>
                <a:latin typeface="Courier New" pitchFamily="34" charset="0"/>
                <a:ea typeface="Courier New" pitchFamily="34" charset="-122"/>
                <a:cs typeface="Courier New" pitchFamily="34" charset="-120"/>
              </a:rPr>
              <a:t>FROM employee e</a:t>
            </a:r>
          </a:p>
          <a:p>
            <a:pPr marL="0" indent="0">
              <a:lnSpc>
                <a:spcPct val="110000"/>
              </a:lnSpc>
              <a:buNone/>
            </a:pPr>
            <a:r>
              <a:rPr lang="en-US" sz="1100" dirty="0">
                <a:solidFill>
                  <a:srgbClr val="FFFFFF"/>
                </a:solidFill>
                <a:latin typeface="Courier New" pitchFamily="34" charset="0"/>
                <a:ea typeface="Courier New" pitchFamily="34" charset="-122"/>
                <a:cs typeface="Courier New" pitchFamily="34" charset="-120"/>
              </a:rPr>
              <a:t>JOIN jobdepartment jd ON e.job_id = jd.job_id JOIN salarybonus sb ON e.job_id = sb.job_id</a:t>
            </a:r>
          </a:p>
          <a:p>
            <a:pPr marL="0" indent="0">
              <a:lnSpc>
                <a:spcPct val="110000"/>
              </a:lnSpc>
              <a:buNone/>
            </a:pPr>
            <a:r>
              <a:rPr lang="en-US" sz="1100" dirty="0">
                <a:solidFill>
                  <a:srgbClr val="FFFFFF"/>
                </a:solidFill>
                <a:latin typeface="Courier New" pitchFamily="34" charset="0"/>
                <a:ea typeface="Courier New" pitchFamily="34" charset="-122"/>
                <a:cs typeface="Courier New" pitchFamily="34" charset="-120"/>
              </a:rPr>
              <a:t>ORDER BY jd.jobdept, department_rank;</a:t>
            </a:r>
          </a:p>
        </p:txBody>
      </p:sp>
      <p:sp>
        <p:nvSpPr>
          <p:cNvPr id="8" name="Text 6"/>
          <p:cNvSpPr txBox="1"/>
          <p:nvPr/>
        </p:nvSpPr>
        <p:spPr>
          <a:xfrm>
            <a:off x="731520" y="2972808"/>
            <a:ext cx="2743200" cy="256032"/>
          </a:xfrm>
          <a:prstGeom prst="rect">
            <a:avLst/>
          </a:prstGeom>
          <a:noFill/>
          <a:ln/>
        </p:spPr>
        <p:txBody>
          <a:bodyPr wrap="square" lIns="0" tIns="0" rIns="0" bIns="0" rtlCol="0" anchor="ctr"/>
          <a:lstStyle/>
          <a:p>
            <a:pPr marL="0" indent="0">
              <a:buNone/>
            </a:pPr>
            <a:r>
              <a:rPr lang="en-US" sz="1100" b="1" kern="0" spc="100" dirty="0">
                <a:solidFill>
                  <a:srgbClr val="FF0000"/>
                </a:solidFill>
                <a:latin typeface="Arial" pitchFamily="34" charset="0"/>
                <a:ea typeface="Arial" pitchFamily="34" charset="-122"/>
                <a:cs typeface="Arial" pitchFamily="34" charset="-120"/>
              </a:rPr>
              <a:t>OUTPUT</a:t>
            </a:r>
            <a:endParaRPr lang="en-US" sz="1100" dirty="0"/>
          </a:p>
        </p:txBody>
      </p:sp>
      <p:sp>
        <p:nvSpPr>
          <p:cNvPr id="11" name="Text 9"/>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12" name="Text 10"/>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20</a:t>
            </a:r>
            <a:endParaRPr lang="en-US" sz="900" dirty="0"/>
          </a:p>
        </p:txBody>
      </p:sp>
      <p:pic>
        <p:nvPicPr>
          <p:cNvPr id="13" name="Image 0" descr="assets/logo.png"/>
          <p:cNvPicPr>
            <a:picLocks noChangeAspect="1"/>
          </p:cNvPicPr>
          <p:nvPr/>
        </p:nvPicPr>
        <p:blipFill>
          <a:blip r:embed="rId2"/>
          <a:stretch>
            <a:fillRect/>
          </a:stretch>
        </p:blipFill>
        <p:spPr>
          <a:xfrm>
            <a:off x="10362895" y="6291072"/>
            <a:ext cx="1508760" cy="315468"/>
          </a:xfrm>
          <a:prstGeom prst="rect">
            <a:avLst/>
          </a:prstGeom>
        </p:spPr>
      </p:pic>
      <p:graphicFrame>
        <p:nvGraphicFramePr>
          <p:cNvPr id="14" name="Table 13"/>
          <p:cNvGraphicFramePr>
            <a:graphicFrameLocks noGrp="1"/>
          </p:cNvGraphicFramePr>
          <p:nvPr/>
        </p:nvGraphicFramePr>
        <p:xfrm>
          <a:off x="731520" y="3155688"/>
          <a:ext cx="10728656" cy="3040000"/>
        </p:xfrm>
        <a:graphic>
          <a:graphicData uri="http://schemas.openxmlformats.org/drawingml/2006/table">
            <a:tbl>
              <a:tblPr bandRow="1">
                <a:tableStyleId>{5C22544A-7EE6-4342-B048-85BDC9FD1C3A}</a:tableStyleId>
              </a:tblPr>
              <a:tblGrid>
                <a:gridCol w="965579">
                  <a:extLst>
                    <a:ext uri="{9D8B030D-6E8A-4147-A177-3AD203B41FA5}">
                      <a16:colId xmlns:a16="http://schemas.microsoft.com/office/drawing/2014/main" val="20000"/>
                    </a:ext>
                  </a:extLst>
                </a:gridCol>
                <a:gridCol w="2896737">
                  <a:extLst>
                    <a:ext uri="{9D8B030D-6E8A-4147-A177-3AD203B41FA5}">
                      <a16:colId xmlns:a16="http://schemas.microsoft.com/office/drawing/2014/main" val="20001"/>
                    </a:ext>
                  </a:extLst>
                </a:gridCol>
                <a:gridCol w="2253017">
                  <a:extLst>
                    <a:ext uri="{9D8B030D-6E8A-4147-A177-3AD203B41FA5}">
                      <a16:colId xmlns:a16="http://schemas.microsoft.com/office/drawing/2014/main" val="20002"/>
                    </a:ext>
                  </a:extLst>
                </a:gridCol>
                <a:gridCol w="2574877">
                  <a:extLst>
                    <a:ext uri="{9D8B030D-6E8A-4147-A177-3AD203B41FA5}">
                      <a16:colId xmlns:a16="http://schemas.microsoft.com/office/drawing/2014/main" val="20003"/>
                    </a:ext>
                  </a:extLst>
                </a:gridCol>
                <a:gridCol w="2038446">
                  <a:extLst>
                    <a:ext uri="{9D8B030D-6E8A-4147-A177-3AD203B41FA5}">
                      <a16:colId xmlns:a16="http://schemas.microsoft.com/office/drawing/2014/main" val="20004"/>
                    </a:ext>
                  </a:extLst>
                </a:gridCol>
              </a:tblGrid>
              <a:tr h="190000">
                <a:tc>
                  <a:txBody>
                    <a:bodyPr/>
                    <a:lstStyle/>
                    <a:p>
                      <a:pPr algn="l"/>
                      <a:r>
                        <a:rPr sz="950" b="1">
                          <a:solidFill>
                            <a:srgbClr val="FFFFFF"/>
                          </a:solidFill>
                          <a:latin typeface="Calibri"/>
                        </a:rPr>
                        <a:t>Emp ID</a:t>
                      </a:r>
                    </a:p>
                  </a:txBody>
                  <a:tcPr marL="41000" marR="41000" marT="1800" marB="1800" anchor="ctr">
                    <a:solidFill>
                      <a:srgbClr val="C00000"/>
                    </a:solidFill>
                  </a:tcPr>
                </a:tc>
                <a:tc>
                  <a:txBody>
                    <a:bodyPr/>
                    <a:lstStyle/>
                    <a:p>
                      <a:pPr algn="l"/>
                      <a:r>
                        <a:rPr sz="950" b="1">
                          <a:solidFill>
                            <a:srgbClr val="FFFFFF"/>
                          </a:solidFill>
                          <a:latin typeface="Calibri"/>
                        </a:rPr>
                        <a:t>Employee Name</a:t>
                      </a:r>
                    </a:p>
                  </a:txBody>
                  <a:tcPr marL="41000" marR="41000" marT="1800" marB="1800" anchor="ctr">
                    <a:solidFill>
                      <a:srgbClr val="C00000"/>
                    </a:solidFill>
                  </a:tcPr>
                </a:tc>
                <a:tc>
                  <a:txBody>
                    <a:bodyPr/>
                    <a:lstStyle/>
                    <a:p>
                      <a:pPr algn="l"/>
                      <a:r>
                        <a:rPr sz="950" b="1">
                          <a:solidFill>
                            <a:srgbClr val="FFFFFF"/>
                          </a:solidFill>
                          <a:latin typeface="Calibri"/>
                        </a:rPr>
                        <a:t>Department</a:t>
                      </a:r>
                    </a:p>
                  </a:txBody>
                  <a:tcPr marL="41000" marR="41000" marT="1800" marB="1800" anchor="ctr">
                    <a:solidFill>
                      <a:srgbClr val="C00000"/>
                    </a:solidFill>
                  </a:tcPr>
                </a:tc>
                <a:tc>
                  <a:txBody>
                    <a:bodyPr/>
                    <a:lstStyle/>
                    <a:p>
                      <a:pPr algn="l"/>
                      <a:r>
                        <a:rPr sz="950" b="1">
                          <a:solidFill>
                            <a:srgbClr val="FFFFFF"/>
                          </a:solidFill>
                          <a:latin typeface="Calibri"/>
                        </a:rPr>
                        <a:t>Annual Salary</a:t>
                      </a:r>
                    </a:p>
                  </a:txBody>
                  <a:tcPr marL="41000" marR="41000" marT="1800" marB="1800" anchor="ctr">
                    <a:solidFill>
                      <a:srgbClr val="C00000"/>
                    </a:solidFill>
                  </a:tcPr>
                </a:tc>
                <a:tc>
                  <a:txBody>
                    <a:bodyPr/>
                    <a:lstStyle/>
                    <a:p>
                      <a:pPr algn="l"/>
                      <a:r>
                        <a:rPr sz="950" b="1">
                          <a:solidFill>
                            <a:srgbClr val="FFFFFF"/>
                          </a:solidFill>
                          <a:latin typeface="Calibri"/>
                        </a:rPr>
                        <a:t>Dept Rank</a:t>
                      </a:r>
                    </a:p>
                  </a:txBody>
                  <a:tcPr marL="41000" marR="41000" marT="1800" marB="1800" anchor="ctr">
                    <a:solidFill>
                      <a:srgbClr val="C00000"/>
                    </a:solidFill>
                  </a:tcPr>
                </a:tc>
                <a:extLst>
                  <a:ext uri="{0D108BD9-81ED-4DB2-BD59-A6C34878D82A}">
                    <a16:rowId xmlns:a16="http://schemas.microsoft.com/office/drawing/2014/main" val="10000"/>
                  </a:ext>
                </a:extLst>
              </a:tr>
              <a:tr h="190000">
                <a:tc>
                  <a:txBody>
                    <a:bodyPr/>
                    <a:lstStyle/>
                    <a:p>
                      <a:pPr algn="l"/>
                      <a:r>
                        <a:rPr sz="850" b="0">
                          <a:solidFill>
                            <a:srgbClr val="231F20"/>
                          </a:solidFill>
                          <a:latin typeface="Calibri"/>
                        </a:rPr>
                        <a:t>1</a:t>
                      </a:r>
                    </a:p>
                  </a:txBody>
                  <a:tcPr marL="41000" marR="41000" marT="900" marB="900" anchor="ctr">
                    <a:solidFill>
                      <a:srgbClr val="FFFFFF"/>
                    </a:solidFill>
                  </a:tcPr>
                </a:tc>
                <a:tc>
                  <a:txBody>
                    <a:bodyPr/>
                    <a:lstStyle/>
                    <a:p>
                      <a:pPr algn="l"/>
                      <a:r>
                        <a:rPr sz="850" b="0">
                          <a:solidFill>
                            <a:srgbClr val="231F20"/>
                          </a:solidFill>
                          <a:latin typeface="Calibri"/>
                        </a:rPr>
                        <a:t>John Doe</a:t>
                      </a:r>
                    </a:p>
                  </a:txBody>
                  <a:tcPr marL="41000" marR="41000" marT="900" marB="900" anchor="ctr">
                    <a:solidFill>
                      <a:srgbClr val="FFFFFF"/>
                    </a:solidFill>
                  </a:tcPr>
                </a:tc>
                <a:tc>
                  <a:txBody>
                    <a:bodyPr/>
                    <a:lstStyle/>
                    <a:p>
                      <a:pPr algn="l"/>
                      <a:r>
                        <a:rPr sz="850" b="0">
                          <a:solidFill>
                            <a:srgbClr val="231F20"/>
                          </a:solidFill>
                          <a:latin typeface="Calibri"/>
                        </a:rPr>
                        <a:t>Operations</a:t>
                      </a:r>
                    </a:p>
                  </a:txBody>
                  <a:tcPr marL="41000" marR="41000" marT="900" marB="900" anchor="ctr">
                    <a:solidFill>
                      <a:srgbClr val="FFFFFF"/>
                    </a:solidFill>
                  </a:tcPr>
                </a:tc>
                <a:tc>
                  <a:txBody>
                    <a:bodyPr/>
                    <a:lstStyle/>
                    <a:p>
                      <a:pPr algn="l"/>
                      <a:r>
                        <a:rPr sz="850" b="0">
                          <a:solidFill>
                            <a:srgbClr val="231F20"/>
                          </a:solidFill>
                          <a:latin typeface="Calibri"/>
                        </a:rPr>
                        <a:t>540,000.00</a:t>
                      </a:r>
                    </a:p>
                  </a:txBody>
                  <a:tcPr marL="41000" marR="41000" marT="900" marB="900" anchor="ctr">
                    <a:solidFill>
                      <a:srgbClr val="FFFFFF"/>
                    </a:solidFill>
                  </a:tcPr>
                </a:tc>
                <a:tc>
                  <a:txBody>
                    <a:bodyPr/>
                    <a:lstStyle/>
                    <a:p>
                      <a:pPr algn="l"/>
                      <a:r>
                        <a:rPr sz="850" b="0">
                          <a:solidFill>
                            <a:srgbClr val="231F20"/>
                          </a:solidFill>
                          <a:latin typeface="Calibri"/>
                        </a:rPr>
                        <a:t>6</a:t>
                      </a:r>
                    </a:p>
                  </a:txBody>
                  <a:tcPr marL="41000" marR="41000" marT="900" marB="900" anchor="ctr">
                    <a:solidFill>
                      <a:srgbClr val="FFFFFF"/>
                    </a:solidFill>
                  </a:tcPr>
                </a:tc>
                <a:extLst>
                  <a:ext uri="{0D108BD9-81ED-4DB2-BD59-A6C34878D82A}">
                    <a16:rowId xmlns:a16="http://schemas.microsoft.com/office/drawing/2014/main" val="10001"/>
                  </a:ext>
                </a:extLst>
              </a:tr>
              <a:tr h="190000">
                <a:tc>
                  <a:txBody>
                    <a:bodyPr/>
                    <a:lstStyle/>
                    <a:p>
                      <a:pPr algn="l"/>
                      <a:r>
                        <a:rPr sz="850" b="0">
                          <a:solidFill>
                            <a:srgbClr val="231F20"/>
                          </a:solidFill>
                          <a:latin typeface="Calibri"/>
                        </a:rPr>
                        <a:t>2</a:t>
                      </a:r>
                    </a:p>
                  </a:txBody>
                  <a:tcPr marL="41000" marR="41000" marT="900" marB="900" anchor="ctr">
                    <a:solidFill>
                      <a:srgbClr val="FFFFFF"/>
                    </a:solidFill>
                  </a:tcPr>
                </a:tc>
                <a:tc>
                  <a:txBody>
                    <a:bodyPr/>
                    <a:lstStyle/>
                    <a:p>
                      <a:pPr algn="l"/>
                      <a:r>
                        <a:rPr sz="850" b="0">
                          <a:solidFill>
                            <a:srgbClr val="231F20"/>
                          </a:solidFill>
                          <a:latin typeface="Calibri"/>
                        </a:rPr>
                        <a:t>Jane Smith</a:t>
                      </a:r>
                    </a:p>
                  </a:txBody>
                  <a:tcPr marL="41000" marR="41000" marT="900" marB="900" anchor="ctr">
                    <a:solidFill>
                      <a:srgbClr val="FFFFFF"/>
                    </a:solidFill>
                  </a:tcPr>
                </a:tc>
                <a:tc>
                  <a:txBody>
                    <a:bodyPr/>
                    <a:lstStyle/>
                    <a:p>
                      <a:pPr algn="l"/>
                      <a:r>
                        <a:rPr sz="850" b="0">
                          <a:solidFill>
                            <a:srgbClr val="231F20"/>
                          </a:solidFill>
                          <a:latin typeface="Calibri"/>
                        </a:rPr>
                        <a:t>Finance</a:t>
                      </a:r>
                    </a:p>
                  </a:txBody>
                  <a:tcPr marL="41000" marR="41000" marT="900" marB="900" anchor="ctr">
                    <a:solidFill>
                      <a:srgbClr val="FFFFFF"/>
                    </a:solidFill>
                  </a:tcPr>
                </a:tc>
                <a:tc>
                  <a:txBody>
                    <a:bodyPr/>
                    <a:lstStyle/>
                    <a:p>
                      <a:pPr algn="l"/>
                      <a:r>
                        <a:rPr sz="850" b="0">
                          <a:solidFill>
                            <a:srgbClr val="231F20"/>
                          </a:solidFill>
                          <a:latin typeface="Calibri"/>
                        </a:rPr>
                        <a:t>660,000.00</a:t>
                      </a:r>
                    </a:p>
                  </a:txBody>
                  <a:tcPr marL="41000" marR="41000" marT="900" marB="900" anchor="ctr">
                    <a:solidFill>
                      <a:srgbClr val="FFFFFF"/>
                    </a:solidFill>
                  </a:tcPr>
                </a:tc>
                <a:tc>
                  <a:txBody>
                    <a:bodyPr/>
                    <a:lstStyle/>
                    <a:p>
                      <a:pPr algn="l"/>
                      <a:r>
                        <a:rPr sz="850" b="0">
                          <a:solidFill>
                            <a:srgbClr val="231F20"/>
                          </a:solidFill>
                          <a:latin typeface="Calibri"/>
                        </a:rPr>
                        <a:t>5</a:t>
                      </a:r>
                    </a:p>
                  </a:txBody>
                  <a:tcPr marL="41000" marR="41000" marT="900" marB="900" anchor="ctr">
                    <a:solidFill>
                      <a:srgbClr val="FFFFFF"/>
                    </a:solidFill>
                  </a:tcPr>
                </a:tc>
                <a:extLst>
                  <a:ext uri="{0D108BD9-81ED-4DB2-BD59-A6C34878D82A}">
                    <a16:rowId xmlns:a16="http://schemas.microsoft.com/office/drawing/2014/main" val="10002"/>
                  </a:ext>
                </a:extLst>
              </a:tr>
              <a:tr h="190000">
                <a:tc>
                  <a:txBody>
                    <a:bodyPr/>
                    <a:lstStyle/>
                    <a:p>
                      <a:pPr algn="l"/>
                      <a:r>
                        <a:rPr sz="850" b="0">
                          <a:solidFill>
                            <a:srgbClr val="231F20"/>
                          </a:solidFill>
                          <a:latin typeface="Calibri"/>
                        </a:rPr>
                        <a:t>3</a:t>
                      </a:r>
                    </a:p>
                  </a:txBody>
                  <a:tcPr marL="41000" marR="41000" marT="900" marB="900" anchor="ctr">
                    <a:solidFill>
                      <a:srgbClr val="FFFFFF"/>
                    </a:solidFill>
                  </a:tcPr>
                </a:tc>
                <a:tc>
                  <a:txBody>
                    <a:bodyPr/>
                    <a:lstStyle/>
                    <a:p>
                      <a:pPr algn="l"/>
                      <a:r>
                        <a:rPr sz="850" b="0">
                          <a:solidFill>
                            <a:srgbClr val="231F20"/>
                          </a:solidFill>
                          <a:latin typeface="Calibri"/>
                        </a:rPr>
                        <a:t>Alice Brown</a:t>
                      </a:r>
                    </a:p>
                  </a:txBody>
                  <a:tcPr marL="41000" marR="41000" marT="900" marB="900" anchor="ctr">
                    <a:solidFill>
                      <a:srgbClr val="FFFFFF"/>
                    </a:solidFill>
                  </a:tcPr>
                </a:tc>
                <a:tc>
                  <a:txBody>
                    <a:bodyPr/>
                    <a:lstStyle/>
                    <a:p>
                      <a:pPr algn="l"/>
                      <a:r>
                        <a:rPr sz="850" b="0">
                          <a:solidFill>
                            <a:srgbClr val="231F20"/>
                          </a:solidFill>
                          <a:latin typeface="Calibri"/>
                        </a:rPr>
                        <a:t>IT</a:t>
                      </a:r>
                    </a:p>
                  </a:txBody>
                  <a:tcPr marL="41000" marR="41000" marT="900" marB="900" anchor="ctr">
                    <a:solidFill>
                      <a:srgbClr val="FFFFFF"/>
                    </a:solidFill>
                  </a:tcPr>
                </a:tc>
                <a:tc>
                  <a:txBody>
                    <a:bodyPr/>
                    <a:lstStyle/>
                    <a:p>
                      <a:pPr algn="l"/>
                      <a:r>
                        <a:rPr sz="850" b="0">
                          <a:solidFill>
                            <a:srgbClr val="231F20"/>
                          </a:solidFill>
                          <a:latin typeface="Calibri"/>
                        </a:rPr>
                        <a:t>480,000.00</a:t>
                      </a:r>
                    </a:p>
                  </a:txBody>
                  <a:tcPr marL="41000" marR="41000" marT="900" marB="900" anchor="ctr">
                    <a:solidFill>
                      <a:srgbClr val="FFFFFF"/>
                    </a:solidFill>
                  </a:tcPr>
                </a:tc>
                <a:tc>
                  <a:txBody>
                    <a:bodyPr/>
                    <a:lstStyle/>
                    <a:p>
                      <a:pPr algn="l"/>
                      <a:r>
                        <a:rPr sz="850" b="0">
                          <a:solidFill>
                            <a:srgbClr val="231F20"/>
                          </a:solidFill>
                          <a:latin typeface="Calibri"/>
                        </a:rPr>
                        <a:t>6</a:t>
                      </a:r>
                    </a:p>
                  </a:txBody>
                  <a:tcPr marL="41000" marR="41000" marT="900" marB="900" anchor="ctr">
                    <a:solidFill>
                      <a:srgbClr val="FFFFFF"/>
                    </a:solidFill>
                  </a:tcPr>
                </a:tc>
                <a:extLst>
                  <a:ext uri="{0D108BD9-81ED-4DB2-BD59-A6C34878D82A}">
                    <a16:rowId xmlns:a16="http://schemas.microsoft.com/office/drawing/2014/main" val="10003"/>
                  </a:ext>
                </a:extLst>
              </a:tr>
              <a:tr h="190000">
                <a:tc>
                  <a:txBody>
                    <a:bodyPr/>
                    <a:lstStyle/>
                    <a:p>
                      <a:pPr algn="l"/>
                      <a:r>
                        <a:rPr sz="850" b="0">
                          <a:solidFill>
                            <a:srgbClr val="231F20"/>
                          </a:solidFill>
                          <a:latin typeface="Calibri"/>
                        </a:rPr>
                        <a:t>4</a:t>
                      </a:r>
                    </a:p>
                  </a:txBody>
                  <a:tcPr marL="41000" marR="41000" marT="900" marB="900" anchor="ctr">
                    <a:solidFill>
                      <a:srgbClr val="FFFFFF"/>
                    </a:solidFill>
                  </a:tcPr>
                </a:tc>
                <a:tc>
                  <a:txBody>
                    <a:bodyPr/>
                    <a:lstStyle/>
                    <a:p>
                      <a:pPr algn="l"/>
                      <a:r>
                        <a:rPr sz="850" b="0">
                          <a:solidFill>
                            <a:srgbClr val="231F20"/>
                          </a:solidFill>
                          <a:latin typeface="Calibri"/>
                        </a:rPr>
                        <a:t>Bob Johnson</a:t>
                      </a:r>
                    </a:p>
                  </a:txBody>
                  <a:tcPr marL="41000" marR="41000" marT="900" marB="900" anchor="ctr">
                    <a:solidFill>
                      <a:srgbClr val="FFFFFF"/>
                    </a:solidFill>
                  </a:tcPr>
                </a:tc>
                <a:tc>
                  <a:txBody>
                    <a:bodyPr/>
                    <a:lstStyle/>
                    <a:p>
                      <a:pPr algn="l"/>
                      <a:r>
                        <a:rPr sz="850" b="0">
                          <a:solidFill>
                            <a:srgbClr val="231F20"/>
                          </a:solidFill>
                          <a:latin typeface="Calibri"/>
                        </a:rPr>
                        <a:t>Marketing</a:t>
                      </a:r>
                    </a:p>
                  </a:txBody>
                  <a:tcPr marL="41000" marR="41000" marT="900" marB="900" anchor="ctr">
                    <a:solidFill>
                      <a:srgbClr val="FFFFFF"/>
                    </a:solidFill>
                  </a:tcPr>
                </a:tc>
                <a:tc>
                  <a:txBody>
                    <a:bodyPr/>
                    <a:lstStyle/>
                    <a:p>
                      <a:pPr algn="l"/>
                      <a:r>
                        <a:rPr sz="850" b="0">
                          <a:solidFill>
                            <a:srgbClr val="231F20"/>
                          </a:solidFill>
                          <a:latin typeface="Calibri"/>
                        </a:rPr>
                        <a:t>576,000.00</a:t>
                      </a:r>
                    </a:p>
                  </a:txBody>
                  <a:tcPr marL="41000" marR="41000" marT="900" marB="900" anchor="ctr">
                    <a:solidFill>
                      <a:srgbClr val="FFFFFF"/>
                    </a:solidFill>
                  </a:tcPr>
                </a:tc>
                <a:tc>
                  <a:txBody>
                    <a:bodyPr/>
                    <a:lstStyle/>
                    <a:p>
                      <a:pPr algn="l"/>
                      <a:r>
                        <a:rPr sz="850" b="0">
                          <a:solidFill>
                            <a:srgbClr val="231F20"/>
                          </a:solidFill>
                          <a:latin typeface="Calibri"/>
                        </a:rPr>
                        <a:t>5</a:t>
                      </a:r>
                    </a:p>
                  </a:txBody>
                  <a:tcPr marL="41000" marR="41000" marT="900" marB="900" anchor="ctr">
                    <a:solidFill>
                      <a:srgbClr val="FFFFFF"/>
                    </a:solidFill>
                  </a:tcPr>
                </a:tc>
                <a:extLst>
                  <a:ext uri="{0D108BD9-81ED-4DB2-BD59-A6C34878D82A}">
                    <a16:rowId xmlns:a16="http://schemas.microsoft.com/office/drawing/2014/main" val="10004"/>
                  </a:ext>
                </a:extLst>
              </a:tr>
              <a:tr h="190000">
                <a:tc>
                  <a:txBody>
                    <a:bodyPr/>
                    <a:lstStyle/>
                    <a:p>
                      <a:pPr algn="l"/>
                      <a:r>
                        <a:rPr sz="850" b="0">
                          <a:solidFill>
                            <a:srgbClr val="231F20"/>
                          </a:solidFill>
                          <a:latin typeface="Calibri"/>
                        </a:rPr>
                        <a:t>5</a:t>
                      </a:r>
                    </a:p>
                  </a:txBody>
                  <a:tcPr marL="41000" marR="41000" marT="900" marB="900" anchor="ctr">
                    <a:solidFill>
                      <a:srgbClr val="FFFFFF"/>
                    </a:solidFill>
                  </a:tcPr>
                </a:tc>
                <a:tc>
                  <a:txBody>
                    <a:bodyPr/>
                    <a:lstStyle/>
                    <a:p>
                      <a:pPr algn="l"/>
                      <a:r>
                        <a:rPr sz="850" b="0">
                          <a:solidFill>
                            <a:srgbClr val="231F20"/>
                          </a:solidFill>
                          <a:latin typeface="Calibri"/>
                        </a:rPr>
                        <a:t>Charlie Williams</a:t>
                      </a:r>
                    </a:p>
                  </a:txBody>
                  <a:tcPr marL="41000" marR="41000" marT="900" marB="900" anchor="ctr">
                    <a:solidFill>
                      <a:srgbClr val="FFFFFF"/>
                    </a:solidFill>
                  </a:tcPr>
                </a:tc>
                <a:tc>
                  <a:txBody>
                    <a:bodyPr/>
                    <a:lstStyle/>
                    <a:p>
                      <a:pPr algn="l"/>
                      <a:r>
                        <a:rPr sz="850" b="0">
                          <a:solidFill>
                            <a:srgbClr val="231F20"/>
                          </a:solidFill>
                          <a:latin typeface="Calibri"/>
                        </a:rPr>
                        <a:t>Finance</a:t>
                      </a:r>
                    </a:p>
                  </a:txBody>
                  <a:tcPr marL="41000" marR="41000" marT="900" marB="900" anchor="ctr">
                    <a:solidFill>
                      <a:srgbClr val="FFFFFF"/>
                    </a:solidFill>
                  </a:tcPr>
                </a:tc>
                <a:tc>
                  <a:txBody>
                    <a:bodyPr/>
                    <a:lstStyle/>
                    <a:p>
                      <a:pPr algn="l"/>
                      <a:r>
                        <a:rPr sz="850" b="0">
                          <a:solidFill>
                            <a:srgbClr val="231F20"/>
                          </a:solidFill>
                          <a:latin typeface="Calibri"/>
                        </a:rPr>
                        <a:t>564,000.00</a:t>
                      </a:r>
                    </a:p>
                  </a:txBody>
                  <a:tcPr marL="41000" marR="41000" marT="900" marB="900" anchor="ctr">
                    <a:solidFill>
                      <a:srgbClr val="FFFFFF"/>
                    </a:solidFill>
                  </a:tcPr>
                </a:tc>
                <a:tc>
                  <a:txBody>
                    <a:bodyPr/>
                    <a:lstStyle/>
                    <a:p>
                      <a:pPr algn="l"/>
                      <a:r>
                        <a:rPr sz="850" b="0">
                          <a:solidFill>
                            <a:srgbClr val="231F20"/>
                          </a:solidFill>
                          <a:latin typeface="Calibri"/>
                        </a:rPr>
                        <a:t>6</a:t>
                      </a:r>
                    </a:p>
                  </a:txBody>
                  <a:tcPr marL="41000" marR="41000" marT="900" marB="900" anchor="ctr">
                    <a:solidFill>
                      <a:srgbClr val="FFFFFF"/>
                    </a:solidFill>
                  </a:tcPr>
                </a:tc>
                <a:extLst>
                  <a:ext uri="{0D108BD9-81ED-4DB2-BD59-A6C34878D82A}">
                    <a16:rowId xmlns:a16="http://schemas.microsoft.com/office/drawing/2014/main" val="10005"/>
                  </a:ext>
                </a:extLst>
              </a:tr>
              <a:tr h="190000">
                <a:tc>
                  <a:txBody>
                    <a:bodyPr/>
                    <a:lstStyle/>
                    <a:p>
                      <a:pPr algn="l"/>
                      <a:r>
                        <a:rPr sz="850" b="0">
                          <a:solidFill>
                            <a:srgbClr val="231F20"/>
                          </a:solidFill>
                          <a:latin typeface="Calibri"/>
                        </a:rPr>
                        <a:t>6</a:t>
                      </a:r>
                    </a:p>
                  </a:txBody>
                  <a:tcPr marL="41000" marR="41000" marT="900" marB="900" anchor="ctr">
                    <a:solidFill>
                      <a:srgbClr val="FFFFFF"/>
                    </a:solidFill>
                  </a:tcPr>
                </a:tc>
                <a:tc>
                  <a:txBody>
                    <a:bodyPr/>
                    <a:lstStyle/>
                    <a:p>
                      <a:pPr algn="l"/>
                      <a:r>
                        <a:rPr sz="850" b="0">
                          <a:solidFill>
                            <a:srgbClr val="231F20"/>
                          </a:solidFill>
                          <a:latin typeface="Calibri"/>
                        </a:rPr>
                        <a:t>Dave Miller</a:t>
                      </a:r>
                    </a:p>
                  </a:txBody>
                  <a:tcPr marL="41000" marR="41000" marT="900" marB="900" anchor="ctr">
                    <a:solidFill>
                      <a:srgbClr val="FFFFFF"/>
                    </a:solidFill>
                  </a:tcPr>
                </a:tc>
                <a:tc>
                  <a:txBody>
                    <a:bodyPr/>
                    <a:lstStyle/>
                    <a:p>
                      <a:pPr algn="l"/>
                      <a:r>
                        <a:rPr sz="850" b="0">
                          <a:solidFill>
                            <a:srgbClr val="231F20"/>
                          </a:solidFill>
                          <a:latin typeface="Calibri"/>
                        </a:rPr>
                        <a:t>Engineering</a:t>
                      </a:r>
                    </a:p>
                  </a:txBody>
                  <a:tcPr marL="41000" marR="41000" marT="900" marB="900" anchor="ctr">
                    <a:solidFill>
                      <a:srgbClr val="FFFFFF"/>
                    </a:solidFill>
                  </a:tcPr>
                </a:tc>
                <a:tc>
                  <a:txBody>
                    <a:bodyPr/>
                    <a:lstStyle/>
                    <a:p>
                      <a:pPr algn="l"/>
                      <a:r>
                        <a:rPr sz="850" b="0">
                          <a:solidFill>
                            <a:srgbClr val="231F20"/>
                          </a:solidFill>
                          <a:latin typeface="Calibri"/>
                        </a:rPr>
                        <a:t>780,000.00</a:t>
                      </a:r>
                    </a:p>
                  </a:txBody>
                  <a:tcPr marL="41000" marR="41000" marT="900" marB="900" anchor="ctr">
                    <a:solidFill>
                      <a:srgbClr val="FFFFFF"/>
                    </a:solidFill>
                  </a:tcPr>
                </a:tc>
                <a:tc>
                  <a:txBody>
                    <a:bodyPr/>
                    <a:lstStyle/>
                    <a:p>
                      <a:pPr algn="l"/>
                      <a:r>
                        <a:rPr sz="850" b="0">
                          <a:solidFill>
                            <a:srgbClr val="231F20"/>
                          </a:solidFill>
                          <a:latin typeface="Calibri"/>
                        </a:rPr>
                        <a:t>4</a:t>
                      </a:r>
                    </a:p>
                  </a:txBody>
                  <a:tcPr marL="41000" marR="41000" marT="900" marB="900" anchor="ctr">
                    <a:solidFill>
                      <a:srgbClr val="FFFFFF"/>
                    </a:solidFill>
                  </a:tcPr>
                </a:tc>
                <a:extLst>
                  <a:ext uri="{0D108BD9-81ED-4DB2-BD59-A6C34878D82A}">
                    <a16:rowId xmlns:a16="http://schemas.microsoft.com/office/drawing/2014/main" val="10006"/>
                  </a:ext>
                </a:extLst>
              </a:tr>
              <a:tr h="190000">
                <a:tc>
                  <a:txBody>
                    <a:bodyPr/>
                    <a:lstStyle/>
                    <a:p>
                      <a:pPr algn="l"/>
                      <a:r>
                        <a:rPr sz="850" b="0">
                          <a:solidFill>
                            <a:srgbClr val="231F20"/>
                          </a:solidFill>
                          <a:latin typeface="Calibri"/>
                        </a:rPr>
                        <a:t>7</a:t>
                      </a:r>
                    </a:p>
                  </a:txBody>
                  <a:tcPr marL="41000" marR="41000" marT="900" marB="900" anchor="ctr">
                    <a:solidFill>
                      <a:srgbClr val="FFFFFF"/>
                    </a:solidFill>
                  </a:tcPr>
                </a:tc>
                <a:tc>
                  <a:txBody>
                    <a:bodyPr/>
                    <a:lstStyle/>
                    <a:p>
                      <a:pPr algn="l"/>
                      <a:r>
                        <a:rPr sz="850" b="0">
                          <a:solidFill>
                            <a:srgbClr val="231F20"/>
                          </a:solidFill>
                          <a:latin typeface="Calibri"/>
                        </a:rPr>
                        <a:t>Eve Davis</a:t>
                      </a:r>
                    </a:p>
                  </a:txBody>
                  <a:tcPr marL="41000" marR="41000" marT="900" marB="900" anchor="ctr">
                    <a:solidFill>
                      <a:srgbClr val="FFFFFF"/>
                    </a:solidFill>
                  </a:tcPr>
                </a:tc>
                <a:tc>
                  <a:txBody>
                    <a:bodyPr/>
                    <a:lstStyle/>
                    <a:p>
                      <a:pPr algn="l"/>
                      <a:r>
                        <a:rPr sz="850" b="0">
                          <a:solidFill>
                            <a:srgbClr val="231F20"/>
                          </a:solidFill>
                          <a:latin typeface="Calibri"/>
                        </a:rPr>
                        <a:t>Sales</a:t>
                      </a:r>
                    </a:p>
                  </a:txBody>
                  <a:tcPr marL="41000" marR="41000" marT="900" marB="900" anchor="ctr">
                    <a:solidFill>
                      <a:srgbClr val="FFFFFF"/>
                    </a:solidFill>
                  </a:tcPr>
                </a:tc>
                <a:tc>
                  <a:txBody>
                    <a:bodyPr/>
                    <a:lstStyle/>
                    <a:p>
                      <a:pPr algn="l"/>
                      <a:r>
                        <a:rPr sz="850" b="0">
                          <a:solidFill>
                            <a:srgbClr val="231F20"/>
                          </a:solidFill>
                          <a:latin typeface="Calibri"/>
                        </a:rPr>
                        <a:t>960,000.00</a:t>
                      </a:r>
                    </a:p>
                  </a:txBody>
                  <a:tcPr marL="41000" marR="41000" marT="900" marB="900" anchor="ctr">
                    <a:solidFill>
                      <a:srgbClr val="FFFFFF"/>
                    </a:solidFill>
                  </a:tcPr>
                </a:tc>
                <a:tc>
                  <a:txBody>
                    <a:bodyPr/>
                    <a:lstStyle/>
                    <a:p>
                      <a:pPr algn="l"/>
                      <a:r>
                        <a:rPr sz="850" b="0">
                          <a:solidFill>
                            <a:srgbClr val="231F20"/>
                          </a:solidFill>
                          <a:latin typeface="Calibri"/>
                        </a:rPr>
                        <a:t>4</a:t>
                      </a:r>
                    </a:p>
                  </a:txBody>
                  <a:tcPr marL="41000" marR="41000" marT="900" marB="900" anchor="ctr">
                    <a:solidFill>
                      <a:srgbClr val="FFFFFF"/>
                    </a:solidFill>
                  </a:tcPr>
                </a:tc>
                <a:extLst>
                  <a:ext uri="{0D108BD9-81ED-4DB2-BD59-A6C34878D82A}">
                    <a16:rowId xmlns:a16="http://schemas.microsoft.com/office/drawing/2014/main" val="10007"/>
                  </a:ext>
                </a:extLst>
              </a:tr>
              <a:tr h="190000">
                <a:tc>
                  <a:txBody>
                    <a:bodyPr/>
                    <a:lstStyle/>
                    <a:p>
                      <a:pPr algn="l"/>
                      <a:r>
                        <a:rPr sz="850" b="0">
                          <a:solidFill>
                            <a:srgbClr val="231F20"/>
                          </a:solidFill>
                          <a:latin typeface="Calibri"/>
                        </a:rPr>
                        <a:t>8</a:t>
                      </a:r>
                    </a:p>
                  </a:txBody>
                  <a:tcPr marL="41000" marR="41000" marT="900" marB="900" anchor="ctr">
                    <a:solidFill>
                      <a:srgbClr val="FFFFFF"/>
                    </a:solidFill>
                  </a:tcPr>
                </a:tc>
                <a:tc>
                  <a:txBody>
                    <a:bodyPr/>
                    <a:lstStyle/>
                    <a:p>
                      <a:pPr algn="l"/>
                      <a:r>
                        <a:rPr sz="850" b="0">
                          <a:solidFill>
                            <a:srgbClr val="231F20"/>
                          </a:solidFill>
                          <a:latin typeface="Calibri"/>
                        </a:rPr>
                        <a:t>Frank Wilson</a:t>
                      </a:r>
                    </a:p>
                  </a:txBody>
                  <a:tcPr marL="41000" marR="41000" marT="900" marB="900" anchor="ctr">
                    <a:solidFill>
                      <a:srgbClr val="FFFFFF"/>
                    </a:solidFill>
                  </a:tcPr>
                </a:tc>
                <a:tc>
                  <a:txBody>
                    <a:bodyPr/>
                    <a:lstStyle/>
                    <a:p>
                      <a:pPr algn="l"/>
                      <a:r>
                        <a:rPr sz="850" b="0">
                          <a:solidFill>
                            <a:srgbClr val="231F20"/>
                          </a:solidFill>
                          <a:latin typeface="Calibri"/>
                        </a:rPr>
                        <a:t>IT</a:t>
                      </a:r>
                    </a:p>
                  </a:txBody>
                  <a:tcPr marL="41000" marR="41000" marT="900" marB="900" anchor="ctr">
                    <a:solidFill>
                      <a:srgbClr val="FFFFFF"/>
                    </a:solidFill>
                  </a:tcPr>
                </a:tc>
                <a:tc>
                  <a:txBody>
                    <a:bodyPr/>
                    <a:lstStyle/>
                    <a:p>
                      <a:pPr algn="l"/>
                      <a:r>
                        <a:rPr sz="850" b="0">
                          <a:solidFill>
                            <a:srgbClr val="231F20"/>
                          </a:solidFill>
                          <a:latin typeface="Calibri"/>
                        </a:rPr>
                        <a:t>504,000.00</a:t>
                      </a:r>
                    </a:p>
                  </a:txBody>
                  <a:tcPr marL="41000" marR="41000" marT="900" marB="900" anchor="ctr">
                    <a:solidFill>
                      <a:srgbClr val="FFFFFF"/>
                    </a:solidFill>
                  </a:tcPr>
                </a:tc>
                <a:tc>
                  <a:txBody>
                    <a:bodyPr/>
                    <a:lstStyle/>
                    <a:p>
                      <a:pPr algn="l"/>
                      <a:r>
                        <a:rPr sz="850" b="0">
                          <a:solidFill>
                            <a:srgbClr val="231F20"/>
                          </a:solidFill>
                          <a:latin typeface="Calibri"/>
                        </a:rPr>
                        <a:t>5</a:t>
                      </a:r>
                    </a:p>
                  </a:txBody>
                  <a:tcPr marL="41000" marR="41000" marT="900" marB="900" anchor="ctr">
                    <a:solidFill>
                      <a:srgbClr val="FFFFFF"/>
                    </a:solidFill>
                  </a:tcPr>
                </a:tc>
                <a:extLst>
                  <a:ext uri="{0D108BD9-81ED-4DB2-BD59-A6C34878D82A}">
                    <a16:rowId xmlns:a16="http://schemas.microsoft.com/office/drawing/2014/main" val="10008"/>
                  </a:ext>
                </a:extLst>
              </a:tr>
              <a:tr h="190000">
                <a:tc>
                  <a:txBody>
                    <a:bodyPr/>
                    <a:lstStyle/>
                    <a:p>
                      <a:pPr algn="l"/>
                      <a:r>
                        <a:rPr sz="850" b="0">
                          <a:solidFill>
                            <a:srgbClr val="231F20"/>
                          </a:solidFill>
                          <a:latin typeface="Calibri"/>
                        </a:rPr>
                        <a:t>9</a:t>
                      </a:r>
                    </a:p>
                  </a:txBody>
                  <a:tcPr marL="41000" marR="41000" marT="900" marB="900" anchor="ctr">
                    <a:solidFill>
                      <a:srgbClr val="FFFFFF"/>
                    </a:solidFill>
                  </a:tcPr>
                </a:tc>
                <a:tc>
                  <a:txBody>
                    <a:bodyPr/>
                    <a:lstStyle/>
                    <a:p>
                      <a:pPr algn="l"/>
                      <a:r>
                        <a:rPr sz="850" b="0">
                          <a:solidFill>
                            <a:srgbClr val="231F20"/>
                          </a:solidFill>
                          <a:latin typeface="Calibri"/>
                        </a:rPr>
                        <a:t>Grace Moore</a:t>
                      </a:r>
                    </a:p>
                  </a:txBody>
                  <a:tcPr marL="41000" marR="41000" marT="900" marB="900" anchor="ctr">
                    <a:solidFill>
                      <a:srgbClr val="FFFFFF"/>
                    </a:solidFill>
                  </a:tcPr>
                </a:tc>
                <a:tc>
                  <a:txBody>
                    <a:bodyPr/>
                    <a:lstStyle/>
                    <a:p>
                      <a:pPr algn="l"/>
                      <a:r>
                        <a:rPr sz="850" b="0">
                          <a:solidFill>
                            <a:srgbClr val="231F20"/>
                          </a:solidFill>
                          <a:latin typeface="Calibri"/>
                        </a:rPr>
                        <a:t>HR</a:t>
                      </a:r>
                    </a:p>
                  </a:txBody>
                  <a:tcPr marL="41000" marR="41000" marT="900" marB="900" anchor="ctr">
                    <a:solidFill>
                      <a:srgbClr val="FFFFFF"/>
                    </a:solidFill>
                  </a:tcPr>
                </a:tc>
                <a:tc>
                  <a:txBody>
                    <a:bodyPr/>
                    <a:lstStyle/>
                    <a:p>
                      <a:pPr algn="l"/>
                      <a:r>
                        <a:rPr sz="850" b="0">
                          <a:solidFill>
                            <a:srgbClr val="231F20"/>
                          </a:solidFill>
                          <a:latin typeface="Calibri"/>
                        </a:rPr>
                        <a:t>660,000.00</a:t>
                      </a:r>
                    </a:p>
                  </a:txBody>
                  <a:tcPr marL="41000" marR="41000" marT="900" marB="900" anchor="ctr">
                    <a:solidFill>
                      <a:srgbClr val="FFFFFF"/>
                    </a:solidFill>
                  </a:tcPr>
                </a:tc>
                <a:tc>
                  <a:txBody>
                    <a:bodyPr/>
                    <a:lstStyle/>
                    <a:p>
                      <a:pPr algn="l"/>
                      <a:r>
                        <a:rPr sz="850" b="0">
                          <a:solidFill>
                            <a:srgbClr val="231F20"/>
                          </a:solidFill>
                          <a:latin typeface="Calibri"/>
                        </a:rPr>
                        <a:t>4</a:t>
                      </a:r>
                    </a:p>
                  </a:txBody>
                  <a:tcPr marL="41000" marR="41000" marT="900" marB="900" anchor="ctr">
                    <a:solidFill>
                      <a:srgbClr val="FFFFFF"/>
                    </a:solidFill>
                  </a:tcPr>
                </a:tc>
                <a:extLst>
                  <a:ext uri="{0D108BD9-81ED-4DB2-BD59-A6C34878D82A}">
                    <a16:rowId xmlns:a16="http://schemas.microsoft.com/office/drawing/2014/main" val="10009"/>
                  </a:ext>
                </a:extLst>
              </a:tr>
              <a:tr h="190000">
                <a:tc>
                  <a:txBody>
                    <a:bodyPr/>
                    <a:lstStyle/>
                    <a:p>
                      <a:pPr algn="l"/>
                      <a:r>
                        <a:rPr sz="850" b="0">
                          <a:solidFill>
                            <a:srgbClr val="231F20"/>
                          </a:solidFill>
                          <a:latin typeface="Calibri"/>
                        </a:rPr>
                        <a:t>10</a:t>
                      </a:r>
                    </a:p>
                  </a:txBody>
                  <a:tcPr marL="41000" marR="41000" marT="900" marB="900" anchor="ctr">
                    <a:solidFill>
                      <a:srgbClr val="FFFFFF"/>
                    </a:solidFill>
                  </a:tcPr>
                </a:tc>
                <a:tc>
                  <a:txBody>
                    <a:bodyPr/>
                    <a:lstStyle/>
                    <a:p>
                      <a:pPr algn="l"/>
                      <a:r>
                        <a:rPr sz="850" b="0">
                          <a:solidFill>
                            <a:srgbClr val="231F20"/>
                          </a:solidFill>
                          <a:latin typeface="Calibri"/>
                        </a:rPr>
                        <a:t>Harry Taylor</a:t>
                      </a:r>
                    </a:p>
                  </a:txBody>
                  <a:tcPr marL="41000" marR="41000" marT="900" marB="900" anchor="ctr">
                    <a:solidFill>
                      <a:srgbClr val="FFFFFF"/>
                    </a:solidFill>
                  </a:tcPr>
                </a:tc>
                <a:tc>
                  <a:txBody>
                    <a:bodyPr/>
                    <a:lstStyle/>
                    <a:p>
                      <a:pPr algn="l"/>
                      <a:r>
                        <a:rPr sz="850" b="0">
                          <a:solidFill>
                            <a:srgbClr val="231F20"/>
                          </a:solidFill>
                          <a:latin typeface="Calibri"/>
                        </a:rPr>
                        <a:t>Operations</a:t>
                      </a:r>
                    </a:p>
                  </a:txBody>
                  <a:tcPr marL="41000" marR="41000" marT="900" marB="900" anchor="ctr">
                    <a:solidFill>
                      <a:srgbClr val="FFFFFF"/>
                    </a:solidFill>
                  </a:tcPr>
                </a:tc>
                <a:tc>
                  <a:txBody>
                    <a:bodyPr/>
                    <a:lstStyle/>
                    <a:p>
                      <a:pPr algn="l"/>
                      <a:r>
                        <a:rPr sz="850" b="0">
                          <a:solidFill>
                            <a:srgbClr val="231F20"/>
                          </a:solidFill>
                          <a:latin typeface="Calibri"/>
                        </a:rPr>
                        <a:t>576,000.00</a:t>
                      </a:r>
                    </a:p>
                  </a:txBody>
                  <a:tcPr marL="41000" marR="41000" marT="900" marB="900" anchor="ctr">
                    <a:solidFill>
                      <a:srgbClr val="FFFFFF"/>
                    </a:solidFill>
                  </a:tcPr>
                </a:tc>
                <a:tc>
                  <a:txBody>
                    <a:bodyPr/>
                    <a:lstStyle/>
                    <a:p>
                      <a:pPr algn="l"/>
                      <a:r>
                        <a:rPr sz="850" b="0">
                          <a:solidFill>
                            <a:srgbClr val="231F20"/>
                          </a:solidFill>
                          <a:latin typeface="Calibri"/>
                        </a:rPr>
                        <a:t>4</a:t>
                      </a:r>
                    </a:p>
                  </a:txBody>
                  <a:tcPr marL="41000" marR="41000" marT="900" marB="900" anchor="ctr">
                    <a:solidFill>
                      <a:srgbClr val="FFFFFF"/>
                    </a:solidFill>
                  </a:tcPr>
                </a:tc>
                <a:extLst>
                  <a:ext uri="{0D108BD9-81ED-4DB2-BD59-A6C34878D82A}">
                    <a16:rowId xmlns:a16="http://schemas.microsoft.com/office/drawing/2014/main" val="10010"/>
                  </a:ext>
                </a:extLst>
              </a:tr>
              <a:tr h="190000">
                <a:tc>
                  <a:txBody>
                    <a:bodyPr/>
                    <a:lstStyle/>
                    <a:p>
                      <a:pPr algn="l"/>
                      <a:r>
                        <a:rPr sz="850" b="0">
                          <a:solidFill>
                            <a:srgbClr val="231F20"/>
                          </a:solidFill>
                          <a:latin typeface="Calibri"/>
                        </a:rPr>
                        <a:t>11</a:t>
                      </a:r>
                    </a:p>
                  </a:txBody>
                  <a:tcPr marL="41000" marR="41000" marT="900" marB="900" anchor="ctr">
                    <a:solidFill>
                      <a:srgbClr val="FFFFFF"/>
                    </a:solidFill>
                  </a:tcPr>
                </a:tc>
                <a:tc>
                  <a:txBody>
                    <a:bodyPr/>
                    <a:lstStyle/>
                    <a:p>
                      <a:pPr algn="l"/>
                      <a:r>
                        <a:rPr sz="850" b="0">
                          <a:solidFill>
                            <a:srgbClr val="231F20"/>
                          </a:solidFill>
                          <a:latin typeface="Calibri"/>
                        </a:rPr>
                        <a:t>Irene Anderson</a:t>
                      </a:r>
                    </a:p>
                  </a:txBody>
                  <a:tcPr marL="41000" marR="41000" marT="900" marB="900" anchor="ctr">
                    <a:solidFill>
                      <a:srgbClr val="FFFFFF"/>
                    </a:solidFill>
                  </a:tcPr>
                </a:tc>
                <a:tc>
                  <a:txBody>
                    <a:bodyPr/>
                    <a:lstStyle/>
                    <a:p>
                      <a:pPr algn="l"/>
                      <a:r>
                        <a:rPr sz="850" b="0">
                          <a:solidFill>
                            <a:srgbClr val="231F20"/>
                          </a:solidFill>
                          <a:latin typeface="Calibri"/>
                        </a:rPr>
                        <a:t>Marketing</a:t>
                      </a:r>
                    </a:p>
                  </a:txBody>
                  <a:tcPr marL="41000" marR="41000" marT="900" marB="900" anchor="ctr">
                    <a:solidFill>
                      <a:srgbClr val="FFFFFF"/>
                    </a:solidFill>
                  </a:tcPr>
                </a:tc>
                <a:tc>
                  <a:txBody>
                    <a:bodyPr/>
                    <a:lstStyle/>
                    <a:p>
                      <a:pPr algn="l"/>
                      <a:r>
                        <a:rPr sz="850" b="0">
                          <a:solidFill>
                            <a:srgbClr val="231F20"/>
                          </a:solidFill>
                          <a:latin typeface="Calibri"/>
                        </a:rPr>
                        <a:t>624,000.00</a:t>
                      </a:r>
                    </a:p>
                  </a:txBody>
                  <a:tcPr marL="41000" marR="41000" marT="900" marB="900" anchor="ctr">
                    <a:solidFill>
                      <a:srgbClr val="FFFFFF"/>
                    </a:solidFill>
                  </a:tcPr>
                </a:tc>
                <a:tc>
                  <a:txBody>
                    <a:bodyPr/>
                    <a:lstStyle/>
                    <a:p>
                      <a:pPr algn="l"/>
                      <a:r>
                        <a:rPr sz="850" b="0">
                          <a:solidFill>
                            <a:srgbClr val="231F20"/>
                          </a:solidFill>
                          <a:latin typeface="Calibri"/>
                        </a:rPr>
                        <a:t>4</a:t>
                      </a:r>
                    </a:p>
                  </a:txBody>
                  <a:tcPr marL="41000" marR="41000" marT="900" marB="900" anchor="ctr">
                    <a:solidFill>
                      <a:srgbClr val="FFFFFF"/>
                    </a:solidFill>
                  </a:tcPr>
                </a:tc>
                <a:extLst>
                  <a:ext uri="{0D108BD9-81ED-4DB2-BD59-A6C34878D82A}">
                    <a16:rowId xmlns:a16="http://schemas.microsoft.com/office/drawing/2014/main" val="10011"/>
                  </a:ext>
                </a:extLst>
              </a:tr>
              <a:tr h="190000">
                <a:tc>
                  <a:txBody>
                    <a:bodyPr/>
                    <a:lstStyle/>
                    <a:p>
                      <a:pPr algn="l"/>
                      <a:r>
                        <a:rPr sz="850" b="0">
                          <a:solidFill>
                            <a:srgbClr val="231F20"/>
                          </a:solidFill>
                          <a:latin typeface="Calibri"/>
                        </a:rPr>
                        <a:t>12</a:t>
                      </a:r>
                    </a:p>
                  </a:txBody>
                  <a:tcPr marL="41000" marR="41000" marT="900" marB="900" anchor="ctr">
                    <a:solidFill>
                      <a:srgbClr val="FFFFFF"/>
                    </a:solidFill>
                  </a:tcPr>
                </a:tc>
                <a:tc>
                  <a:txBody>
                    <a:bodyPr/>
                    <a:lstStyle/>
                    <a:p>
                      <a:pPr algn="l"/>
                      <a:r>
                        <a:rPr sz="850" b="0">
                          <a:solidFill>
                            <a:srgbClr val="231F20"/>
                          </a:solidFill>
                          <a:latin typeface="Calibri"/>
                        </a:rPr>
                        <a:t>Jack Thomas</a:t>
                      </a:r>
                    </a:p>
                  </a:txBody>
                  <a:tcPr marL="41000" marR="41000" marT="900" marB="900" anchor="ctr">
                    <a:solidFill>
                      <a:srgbClr val="FFFFFF"/>
                    </a:solidFill>
                  </a:tcPr>
                </a:tc>
                <a:tc>
                  <a:txBody>
                    <a:bodyPr/>
                    <a:lstStyle/>
                    <a:p>
                      <a:pPr algn="l"/>
                      <a:r>
                        <a:rPr sz="850" b="0">
                          <a:solidFill>
                            <a:srgbClr val="231F20"/>
                          </a:solidFill>
                          <a:latin typeface="Calibri"/>
                        </a:rPr>
                        <a:t>Legal</a:t>
                      </a:r>
                    </a:p>
                  </a:txBody>
                  <a:tcPr marL="41000" marR="41000" marT="900" marB="900" anchor="ctr">
                    <a:solidFill>
                      <a:srgbClr val="FFFFFF"/>
                    </a:solidFill>
                  </a:tcPr>
                </a:tc>
                <a:tc>
                  <a:txBody>
                    <a:bodyPr/>
                    <a:lstStyle/>
                    <a:p>
                      <a:pPr algn="l"/>
                      <a:r>
                        <a:rPr sz="850" b="0">
                          <a:solidFill>
                            <a:srgbClr val="231F20"/>
                          </a:solidFill>
                          <a:latin typeface="Calibri"/>
                        </a:rPr>
                        <a:t>1,080,000.00</a:t>
                      </a:r>
                    </a:p>
                  </a:txBody>
                  <a:tcPr marL="41000" marR="41000" marT="900" marB="900" anchor="ctr">
                    <a:solidFill>
                      <a:srgbClr val="FFFFFF"/>
                    </a:solidFill>
                  </a:tcPr>
                </a:tc>
                <a:tc>
                  <a:txBody>
                    <a:bodyPr/>
                    <a:lstStyle/>
                    <a:p>
                      <a:pPr algn="l"/>
                      <a:r>
                        <a:rPr sz="850" b="0">
                          <a:solidFill>
                            <a:srgbClr val="231F20"/>
                          </a:solidFill>
                          <a:latin typeface="Calibri"/>
                        </a:rPr>
                        <a:t>3</a:t>
                      </a:r>
                    </a:p>
                  </a:txBody>
                  <a:tcPr marL="41000" marR="41000" marT="900" marB="900" anchor="ctr">
                    <a:solidFill>
                      <a:srgbClr val="FFFFFF"/>
                    </a:solidFill>
                  </a:tcPr>
                </a:tc>
                <a:extLst>
                  <a:ext uri="{0D108BD9-81ED-4DB2-BD59-A6C34878D82A}">
                    <a16:rowId xmlns:a16="http://schemas.microsoft.com/office/drawing/2014/main" val="10012"/>
                  </a:ext>
                </a:extLst>
              </a:tr>
              <a:tr h="190000">
                <a:tc>
                  <a:txBody>
                    <a:bodyPr/>
                    <a:lstStyle/>
                    <a:p>
                      <a:pPr algn="l"/>
                      <a:r>
                        <a:rPr sz="850" b="0">
                          <a:solidFill>
                            <a:srgbClr val="231F20"/>
                          </a:solidFill>
                          <a:latin typeface="Calibri"/>
                        </a:rPr>
                        <a:t>13</a:t>
                      </a:r>
                    </a:p>
                  </a:txBody>
                  <a:tcPr marL="41000" marR="41000" marT="900" marB="900" anchor="ctr">
                    <a:solidFill>
                      <a:srgbClr val="FFFFFF"/>
                    </a:solidFill>
                  </a:tcPr>
                </a:tc>
                <a:tc>
                  <a:txBody>
                    <a:bodyPr/>
                    <a:lstStyle/>
                    <a:p>
                      <a:pPr algn="l"/>
                      <a:r>
                        <a:rPr sz="850" b="0">
                          <a:solidFill>
                            <a:srgbClr val="231F20"/>
                          </a:solidFill>
                          <a:latin typeface="Calibri"/>
                        </a:rPr>
                        <a:t>Karen Jackson</a:t>
                      </a:r>
                    </a:p>
                  </a:txBody>
                  <a:tcPr marL="41000" marR="41000" marT="900" marB="900" anchor="ctr">
                    <a:solidFill>
                      <a:srgbClr val="FFFFFF"/>
                    </a:solidFill>
                  </a:tcPr>
                </a:tc>
                <a:tc>
                  <a:txBody>
                    <a:bodyPr/>
                    <a:lstStyle/>
                    <a:p>
                      <a:pPr algn="l"/>
                      <a:r>
                        <a:rPr sz="850" b="0">
                          <a:solidFill>
                            <a:srgbClr val="231F20"/>
                          </a:solidFill>
                          <a:latin typeface="Calibri"/>
                        </a:rPr>
                        <a:t>Finance</a:t>
                      </a:r>
                    </a:p>
                  </a:txBody>
                  <a:tcPr marL="41000" marR="41000" marT="900" marB="900" anchor="ctr">
                    <a:solidFill>
                      <a:srgbClr val="FFFFFF"/>
                    </a:solidFill>
                  </a:tcPr>
                </a:tc>
                <a:tc>
                  <a:txBody>
                    <a:bodyPr/>
                    <a:lstStyle/>
                    <a:p>
                      <a:pPr algn="l"/>
                      <a:r>
                        <a:rPr sz="850" b="0">
                          <a:solidFill>
                            <a:srgbClr val="231F20"/>
                          </a:solidFill>
                          <a:latin typeface="Calibri"/>
                        </a:rPr>
                        <a:t>720,000.00</a:t>
                      </a:r>
                    </a:p>
                  </a:txBody>
                  <a:tcPr marL="41000" marR="41000" marT="900" marB="900" anchor="ctr">
                    <a:solidFill>
                      <a:srgbClr val="FFFFFF"/>
                    </a:solidFill>
                  </a:tcPr>
                </a:tc>
                <a:tc>
                  <a:txBody>
                    <a:bodyPr/>
                    <a:lstStyle/>
                    <a:p>
                      <a:pPr algn="l"/>
                      <a:r>
                        <a:rPr sz="850" b="0">
                          <a:solidFill>
                            <a:srgbClr val="231F20"/>
                          </a:solidFill>
                          <a:latin typeface="Calibri"/>
                        </a:rPr>
                        <a:t>4</a:t>
                      </a:r>
                    </a:p>
                  </a:txBody>
                  <a:tcPr marL="41000" marR="41000" marT="900" marB="900" anchor="ctr">
                    <a:solidFill>
                      <a:srgbClr val="FFFFFF"/>
                    </a:solidFill>
                  </a:tcPr>
                </a:tc>
                <a:extLst>
                  <a:ext uri="{0D108BD9-81ED-4DB2-BD59-A6C34878D82A}">
                    <a16:rowId xmlns:a16="http://schemas.microsoft.com/office/drawing/2014/main" val="10013"/>
                  </a:ext>
                </a:extLst>
              </a:tr>
              <a:tr h="190000">
                <a:tc>
                  <a:txBody>
                    <a:bodyPr/>
                    <a:lstStyle/>
                    <a:p>
                      <a:pPr algn="l"/>
                      <a:r>
                        <a:rPr sz="850" b="0">
                          <a:solidFill>
                            <a:srgbClr val="231F20"/>
                          </a:solidFill>
                          <a:latin typeface="Calibri"/>
                        </a:rPr>
                        <a:t>14</a:t>
                      </a:r>
                    </a:p>
                  </a:txBody>
                  <a:tcPr marL="41000" marR="41000" marT="900" marB="900" anchor="ctr">
                    <a:solidFill>
                      <a:srgbClr val="FFFFFF"/>
                    </a:solidFill>
                  </a:tcPr>
                </a:tc>
                <a:tc>
                  <a:txBody>
                    <a:bodyPr/>
                    <a:lstStyle/>
                    <a:p>
                      <a:pPr algn="l"/>
                      <a:r>
                        <a:rPr sz="850" b="0">
                          <a:solidFill>
                            <a:srgbClr val="231F20"/>
                          </a:solidFill>
                          <a:latin typeface="Calibri"/>
                        </a:rPr>
                        <a:t>Louis White</a:t>
                      </a:r>
                    </a:p>
                  </a:txBody>
                  <a:tcPr marL="41000" marR="41000" marT="900" marB="900" anchor="ctr">
                    <a:solidFill>
                      <a:srgbClr val="FFFFFF"/>
                    </a:solidFill>
                  </a:tcPr>
                </a:tc>
                <a:tc>
                  <a:txBody>
                    <a:bodyPr/>
                    <a:lstStyle/>
                    <a:p>
                      <a:pPr algn="l"/>
                      <a:r>
                        <a:rPr sz="850" b="0">
                          <a:solidFill>
                            <a:srgbClr val="231F20"/>
                          </a:solidFill>
                          <a:latin typeface="Calibri"/>
                        </a:rPr>
                        <a:t>IT</a:t>
                      </a:r>
                    </a:p>
                  </a:txBody>
                  <a:tcPr marL="41000" marR="41000" marT="900" marB="900" anchor="ctr">
                    <a:solidFill>
                      <a:srgbClr val="FFFFFF"/>
                    </a:solidFill>
                  </a:tcPr>
                </a:tc>
                <a:tc>
                  <a:txBody>
                    <a:bodyPr/>
                    <a:lstStyle/>
                    <a:p>
                      <a:pPr algn="l"/>
                      <a:r>
                        <a:rPr sz="850" b="0">
                          <a:solidFill>
                            <a:srgbClr val="231F20"/>
                          </a:solidFill>
                          <a:latin typeface="Calibri"/>
                        </a:rPr>
                        <a:t>456,000.00</a:t>
                      </a:r>
                    </a:p>
                  </a:txBody>
                  <a:tcPr marL="41000" marR="41000" marT="900" marB="900" anchor="ctr">
                    <a:solidFill>
                      <a:srgbClr val="FFFFFF"/>
                    </a:solidFill>
                  </a:tcPr>
                </a:tc>
                <a:tc>
                  <a:txBody>
                    <a:bodyPr/>
                    <a:lstStyle/>
                    <a:p>
                      <a:pPr algn="l"/>
                      <a:r>
                        <a:rPr sz="850" b="0">
                          <a:solidFill>
                            <a:srgbClr val="231F20"/>
                          </a:solidFill>
                          <a:latin typeface="Calibri"/>
                        </a:rPr>
                        <a:t>7</a:t>
                      </a:r>
                    </a:p>
                  </a:txBody>
                  <a:tcPr marL="41000" marR="41000" marT="900" marB="900" anchor="ctr">
                    <a:solidFill>
                      <a:srgbClr val="FFFFFF"/>
                    </a:solidFill>
                  </a:tcPr>
                </a:tc>
                <a:extLst>
                  <a:ext uri="{0D108BD9-81ED-4DB2-BD59-A6C34878D82A}">
                    <a16:rowId xmlns:a16="http://schemas.microsoft.com/office/drawing/2014/main" val="10014"/>
                  </a:ext>
                </a:extLst>
              </a:tr>
              <a:tr h="190000">
                <a:tc>
                  <a:txBody>
                    <a:bodyPr/>
                    <a:lstStyle/>
                    <a:p>
                      <a:pPr algn="l"/>
                      <a:r>
                        <a:rPr sz="850" b="0">
                          <a:solidFill>
                            <a:srgbClr val="231F20"/>
                          </a:solidFill>
                          <a:latin typeface="Calibri"/>
                        </a:rPr>
                        <a:t>15</a:t>
                      </a:r>
                    </a:p>
                  </a:txBody>
                  <a:tcPr marL="41000" marR="41000" marT="900" marB="900" anchor="ctr">
                    <a:solidFill>
                      <a:srgbClr val="FFFFFF"/>
                    </a:solidFill>
                  </a:tcPr>
                </a:tc>
                <a:tc>
                  <a:txBody>
                    <a:bodyPr/>
                    <a:lstStyle/>
                    <a:p>
                      <a:pPr algn="l"/>
                      <a:r>
                        <a:rPr sz="850" b="0">
                          <a:solidFill>
                            <a:srgbClr val="231F20"/>
                          </a:solidFill>
                          <a:latin typeface="Calibri"/>
                        </a:rPr>
                        <a:t>Maria Harris</a:t>
                      </a:r>
                    </a:p>
                  </a:txBody>
                  <a:tcPr marL="41000" marR="41000" marT="900" marB="900" anchor="ctr">
                    <a:solidFill>
                      <a:srgbClr val="FFFFFF"/>
                    </a:solidFill>
                  </a:tcPr>
                </a:tc>
                <a:tc>
                  <a:txBody>
                    <a:bodyPr/>
                    <a:lstStyle/>
                    <a:p>
                      <a:pPr algn="l"/>
                      <a:r>
                        <a:rPr sz="850" b="0">
                          <a:solidFill>
                            <a:srgbClr val="231F20"/>
                          </a:solidFill>
                          <a:latin typeface="Calibri"/>
                        </a:rPr>
                        <a:t>Engineering</a:t>
                      </a:r>
                    </a:p>
                  </a:txBody>
                  <a:tcPr marL="41000" marR="41000" marT="900" marB="900" anchor="ctr">
                    <a:solidFill>
                      <a:srgbClr val="FFFFFF"/>
                    </a:solidFill>
                  </a:tcPr>
                </a:tc>
                <a:tc>
                  <a:txBody>
                    <a:bodyPr/>
                    <a:lstStyle/>
                    <a:p>
                      <a:pPr algn="l"/>
                      <a:r>
                        <a:rPr sz="850" b="0">
                          <a:solidFill>
                            <a:srgbClr val="231F20"/>
                          </a:solidFill>
                          <a:latin typeface="Calibri"/>
                        </a:rPr>
                        <a:t>660,000.00</a:t>
                      </a:r>
                    </a:p>
                  </a:txBody>
                  <a:tcPr marL="41000" marR="41000" marT="900" marB="900" anchor="ctr">
                    <a:solidFill>
                      <a:srgbClr val="FFFFFF"/>
                    </a:solidFill>
                  </a:tcPr>
                </a:tc>
                <a:tc>
                  <a:txBody>
                    <a:bodyPr/>
                    <a:lstStyle/>
                    <a:p>
                      <a:pPr algn="l"/>
                      <a:r>
                        <a:rPr sz="850" b="0">
                          <a:solidFill>
                            <a:srgbClr val="231F20"/>
                          </a:solidFill>
                          <a:latin typeface="Calibri"/>
                        </a:rPr>
                        <a:t>5</a:t>
                      </a:r>
                    </a:p>
                  </a:txBody>
                  <a:tcPr marL="41000" marR="41000" marT="900" marB="900" anchor="ctr">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5855" cy="566928"/>
          </a:xfrm>
          <a:prstGeom prst="rect">
            <a:avLst/>
          </a:prstGeom>
          <a:noFill/>
          <a:ln/>
        </p:spPr>
        <p:txBody>
          <a:bodyPr wrap="square" lIns="0" tIns="0" rIns="0" bIns="0" rtlCol="0" anchor="ctr"/>
          <a:lstStyle/>
          <a:p>
            <a:pPr marL="0" indent="0">
              <a:buNone/>
            </a:pPr>
            <a:r>
              <a:rPr lang="en-US" sz="2400" b="1" dirty="0">
                <a:solidFill>
                  <a:srgbClr val="231F20"/>
                </a:solidFill>
                <a:latin typeface="Arial" pitchFamily="34" charset="0"/>
                <a:ea typeface="Arial" pitchFamily="34" charset="-122"/>
                <a:cs typeface="Arial" pitchFamily="34" charset="-120"/>
              </a:rPr>
              <a:t>Conclusion</a:t>
            </a:r>
            <a:endParaRPr lang="en-US" sz="2400" dirty="0"/>
          </a:p>
        </p:txBody>
      </p:sp>
      <p:sp>
        <p:nvSpPr>
          <p:cNvPr id="3" name="Shape 1"/>
          <p:cNvSpPr/>
          <p:nvPr/>
        </p:nvSpPr>
        <p:spPr>
          <a:xfrm>
            <a:off x="502920" y="978408"/>
            <a:ext cx="11185855" cy="0"/>
          </a:xfrm>
          <a:prstGeom prst="line">
            <a:avLst/>
          </a:prstGeom>
          <a:noFill/>
          <a:ln w="12700">
            <a:solidFill>
              <a:srgbClr val="E5E5E5"/>
            </a:solidFill>
            <a:prstDash val="solid"/>
          </a:ln>
        </p:spPr>
        <p:txBody>
          <a:bodyPr/>
          <a:lstStyle/>
          <a:p>
            <a:endParaRPr/>
          </a:p>
        </p:txBody>
      </p:sp>
      <p:sp>
        <p:nvSpPr>
          <p:cNvPr id="4" name="Text 2"/>
          <p:cNvSpPr txBox="1"/>
          <p:nvPr/>
        </p:nvSpPr>
        <p:spPr>
          <a:xfrm>
            <a:off x="731520" y="1362456"/>
            <a:ext cx="10454335" cy="3474720"/>
          </a:xfrm>
          <a:prstGeom prst="rect">
            <a:avLst/>
          </a:prstGeom>
          <a:noFill/>
          <a:ln/>
        </p:spPr>
        <p:txBody>
          <a:bodyPr wrap="square" lIns="0" tIns="0" rIns="0" bIns="0" rtlCol="0" anchor="ctr"/>
          <a:lstStyle/>
          <a:p>
            <a:pPr marL="342900" indent="-342900">
              <a:lnSpc>
                <a:spcPct val="115000"/>
              </a:lnSpc>
              <a:spcAft>
                <a:spcPts val="1600"/>
              </a:spcAft>
              <a:buSzPct val="100000"/>
              <a:buChar char="•"/>
            </a:pPr>
            <a:r>
              <a:rPr lang="en-US" sz="1600" dirty="0">
                <a:solidFill>
                  <a:srgbClr val="231F20"/>
                </a:solidFill>
                <a:latin typeface="Calibri" pitchFamily="34" charset="0"/>
                <a:ea typeface="Calibri" pitchFamily="34" charset="-122"/>
                <a:cs typeface="Calibri" pitchFamily="34" charset="-120"/>
              </a:rPr>
              <a:t>The Employee Management System demonstrates how SQL can be used to manage and analyze employee-related data.</a:t>
            </a:r>
            <a:endParaRPr lang="en-US" sz="1600" dirty="0"/>
          </a:p>
          <a:p>
            <a:pPr marL="342900" indent="-342900">
              <a:lnSpc>
                <a:spcPct val="115000"/>
              </a:lnSpc>
              <a:spcAft>
                <a:spcPts val="1600"/>
              </a:spcAft>
              <a:buSzPct val="100000"/>
              <a:buChar char="•"/>
            </a:pPr>
            <a:r>
              <a:rPr lang="en-US" sz="1600" dirty="0">
                <a:solidFill>
                  <a:srgbClr val="231F20"/>
                </a:solidFill>
                <a:latin typeface="Calibri" pitchFamily="34" charset="0"/>
                <a:ea typeface="Calibri" pitchFamily="34" charset="-122"/>
                <a:cs typeface="Calibri" pitchFamily="34" charset="-120"/>
              </a:rPr>
              <a:t>The project organizes employee, department, salary, qualification, leave, and payroll information into a structured relational database.</a:t>
            </a:r>
            <a:endParaRPr lang="en-US" sz="1600" dirty="0"/>
          </a:p>
          <a:p>
            <a:pPr marL="342900" indent="-342900">
              <a:lnSpc>
                <a:spcPct val="115000"/>
              </a:lnSpc>
              <a:spcAft>
                <a:spcPts val="1600"/>
              </a:spcAft>
              <a:buSzPct val="100000"/>
              <a:buChar char="•"/>
            </a:pPr>
            <a:r>
              <a:rPr lang="en-US" sz="1600" dirty="0">
                <a:solidFill>
                  <a:srgbClr val="231F20"/>
                </a:solidFill>
                <a:latin typeface="Calibri" pitchFamily="34" charset="0"/>
                <a:ea typeface="Calibri" pitchFamily="34" charset="-122"/>
                <a:cs typeface="Calibri" pitchFamily="34" charset="-120"/>
              </a:rPr>
              <a:t>SQL queries help identify salary trends, employee distribution, qualification patterns, leave behavior, payroll information, and employee rankings.</a:t>
            </a:r>
            <a:endParaRPr lang="en-US" sz="1600" dirty="0"/>
          </a:p>
          <a:p>
            <a:pPr marL="342900" indent="-342900">
              <a:lnSpc>
                <a:spcPct val="115000"/>
              </a:lnSpc>
              <a:spcAft>
                <a:spcPts val="1600"/>
              </a:spcAft>
              <a:buSzPct val="100000"/>
              <a:buChar char="•"/>
            </a:pPr>
            <a:r>
              <a:rPr lang="en-US" sz="1600" dirty="0">
                <a:solidFill>
                  <a:srgbClr val="231F20"/>
                </a:solidFill>
                <a:latin typeface="Calibri" pitchFamily="34" charset="0"/>
                <a:ea typeface="Calibri" pitchFamily="34" charset="-122"/>
                <a:cs typeface="Calibri" pitchFamily="34" charset="-120"/>
              </a:rPr>
              <a:t>The use of JOINs, aggregate functions, subqueries, and window functions provides useful insights for employee and payroll management.</a:t>
            </a:r>
            <a:endParaRPr lang="en-US" sz="16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6" name="Text 4"/>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24</a:t>
            </a:r>
            <a:endParaRPr lang="en-US" sz="900" dirty="0"/>
          </a:p>
        </p:txBody>
      </p:sp>
      <p:pic>
        <p:nvPicPr>
          <p:cNvPr id="7"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2743200"/>
            <a:ext cx="12191695" cy="914400"/>
          </a:xfrm>
          <a:prstGeom prst="rect">
            <a:avLst/>
          </a:prstGeom>
          <a:noFill/>
          <a:ln/>
        </p:spPr>
        <p:txBody>
          <a:bodyPr wrap="square" lIns="0" tIns="0" rIns="0" bIns="0" rtlCol="0" anchor="ctr"/>
          <a:lstStyle/>
          <a:p>
            <a:pPr marL="0" indent="0" algn="ctr">
              <a:buNone/>
            </a:pPr>
            <a:r>
              <a:rPr lang="en-US" sz="4400" b="1" dirty="0">
                <a:solidFill>
                  <a:srgbClr val="FF0000"/>
                </a:solidFill>
                <a:latin typeface="Arial" pitchFamily="34" charset="0"/>
                <a:ea typeface="Arial" pitchFamily="34" charset="-122"/>
                <a:cs typeface="Arial" pitchFamily="34" charset="-120"/>
              </a:rPr>
              <a:t>Q &amp; A</a:t>
            </a:r>
            <a:endParaRPr lang="en-US" sz="4400" dirty="0"/>
          </a:p>
        </p:txBody>
      </p:sp>
      <p:sp>
        <p:nvSpPr>
          <p:cNvPr id="3" name="Text 1"/>
          <p:cNvSpPr txBox="1"/>
          <p:nvPr/>
        </p:nvSpPr>
        <p:spPr>
          <a:xfrm>
            <a:off x="0" y="3611880"/>
            <a:ext cx="12191695" cy="457200"/>
          </a:xfrm>
          <a:prstGeom prst="rect">
            <a:avLst/>
          </a:prstGeom>
          <a:noFill/>
          <a:ln/>
        </p:spPr>
        <p:txBody>
          <a:bodyPr wrap="square" lIns="0" tIns="0" rIns="0" bIns="0" rtlCol="0" anchor="ctr"/>
          <a:lstStyle/>
          <a:p>
            <a:pPr marL="0" indent="0" algn="ctr">
              <a:buNone/>
            </a:pPr>
            <a:r>
              <a:rPr lang="en-US" sz="1600" dirty="0">
                <a:solidFill>
                  <a:srgbClr val="231F20"/>
                </a:solidFill>
                <a:latin typeface="Calibri" pitchFamily="34" charset="0"/>
                <a:ea typeface="Calibri" pitchFamily="34" charset="-122"/>
                <a:cs typeface="Calibri" pitchFamily="34" charset="-120"/>
              </a:rPr>
              <a:t>Questions &amp; Discussion</a:t>
            </a:r>
            <a:endParaRPr lang="en-US" sz="1600" dirty="0"/>
          </a:p>
        </p:txBody>
      </p:sp>
      <p:sp>
        <p:nvSpPr>
          <p:cNvPr id="4" name="Text 2"/>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6E6E6E"/>
                </a:solidFill>
                <a:latin typeface="Calibri" pitchFamily="34" charset="0"/>
                <a:ea typeface="Calibri" pitchFamily="34" charset="-122"/>
                <a:cs typeface="Calibri" pitchFamily="34" charset="-120"/>
              </a:rPr>
              <a:t>EMPLOYEE MANAGEMENT SYSTEM  |  SQL PROJECT PRESENTATION</a:t>
            </a:r>
            <a:endParaRPr lang="en-US" sz="900" dirty="0"/>
          </a:p>
        </p:txBody>
      </p:sp>
      <p:sp>
        <p:nvSpPr>
          <p:cNvPr id="5" name="Text 3"/>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26</a:t>
            </a:r>
            <a:endParaRPr lang="en-US" sz="900" dirty="0"/>
          </a:p>
        </p:txBody>
      </p:sp>
      <p:pic>
        <p:nvPicPr>
          <p:cNvPr id="6" name="Image 0" descr="assets/logo.png"/>
          <p:cNvPicPr>
            <a:picLocks noChangeAspect="1"/>
          </p:cNvPicPr>
          <p:nvPr/>
        </p:nvPicPr>
        <p:blipFill>
          <a:blip r:embed="rId3"/>
          <a:stretch>
            <a:fillRect/>
          </a:stretch>
        </p:blipFill>
        <p:spPr>
          <a:xfrm>
            <a:off x="10362895" y="6291072"/>
            <a:ext cx="1508760" cy="31546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assets/handshake.png"/>
          <p:cNvPicPr>
            <a:picLocks noChangeAspect="1"/>
          </p:cNvPicPr>
          <p:nvPr/>
        </p:nvPicPr>
        <p:blipFill>
          <a:blip r:embed="rId3"/>
          <a:stretch>
            <a:fillRect/>
          </a:stretch>
        </p:blipFill>
        <p:spPr>
          <a:xfrm>
            <a:off x="6858000" y="1737360"/>
            <a:ext cx="4206240" cy="2670048"/>
          </a:xfrm>
          <a:prstGeom prst="rect">
            <a:avLst/>
          </a:prstGeom>
        </p:spPr>
      </p:pic>
      <p:sp>
        <p:nvSpPr>
          <p:cNvPr id="3" name="Text 0"/>
          <p:cNvSpPr txBox="1"/>
          <p:nvPr/>
        </p:nvSpPr>
        <p:spPr>
          <a:xfrm>
            <a:off x="914400" y="2743200"/>
            <a:ext cx="5029200" cy="822960"/>
          </a:xfrm>
          <a:prstGeom prst="rect">
            <a:avLst/>
          </a:prstGeom>
          <a:noFill/>
          <a:ln/>
        </p:spPr>
        <p:txBody>
          <a:bodyPr wrap="square" lIns="0" tIns="0" rIns="0" bIns="0" rtlCol="0" anchor="ctr"/>
          <a:lstStyle/>
          <a:p>
            <a:pPr marL="0" indent="0">
              <a:buNone/>
            </a:pPr>
            <a:r>
              <a:rPr lang="en-US" sz="4000" dirty="0">
                <a:solidFill>
                  <a:srgbClr val="C00000"/>
                </a:solidFill>
                <a:latin typeface="Arial" pitchFamily="34" charset="0"/>
                <a:ea typeface="Arial" pitchFamily="34" charset="-122"/>
                <a:cs typeface="Arial" pitchFamily="34" charset="-120"/>
              </a:rPr>
              <a:t>THANK YOU</a:t>
            </a:r>
            <a:endParaRPr lang="en-US" sz="4000" dirty="0"/>
          </a:p>
        </p:txBody>
      </p:sp>
      <p:sp>
        <p:nvSpPr>
          <p:cNvPr id="4" name="Text 1"/>
          <p:cNvSpPr txBox="1"/>
          <p:nvPr/>
        </p:nvSpPr>
        <p:spPr>
          <a:xfrm>
            <a:off x="914400" y="3520440"/>
            <a:ext cx="5486400" cy="365760"/>
          </a:xfrm>
          <a:prstGeom prst="rect">
            <a:avLst/>
          </a:prstGeom>
          <a:noFill/>
          <a:ln/>
        </p:spPr>
        <p:txBody>
          <a:bodyPr wrap="square" lIns="0" tIns="0" rIns="0" bIns="0" rtlCol="0" anchor="ctr"/>
          <a:lstStyle/>
          <a:p>
            <a:pPr marL="0" indent="0">
              <a:buNone/>
            </a:pPr>
            <a:r>
              <a:rPr lang="en-US" sz="1300" dirty="0">
                <a:solidFill>
                  <a:srgbClr val="231F20"/>
                </a:solidFill>
                <a:latin typeface="Calibri" pitchFamily="34" charset="0"/>
                <a:ea typeface="Calibri" pitchFamily="34" charset="-122"/>
                <a:cs typeface="Calibri" pitchFamily="34" charset="-120"/>
              </a:rPr>
              <a:t>Gunde Ravi  |  Innomatics Research Labs — SQL Project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1889</Words>
  <Application>Microsoft Office PowerPoint</Application>
  <PresentationFormat>Widescreen</PresentationFormat>
  <Paragraphs>416</Paragraphs>
  <Slides>23</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kumar ravi</cp:lastModifiedBy>
  <cp:revision>4</cp:revision>
  <dcterms:created xsi:type="dcterms:W3CDTF">2026-09-08T07:19:06Z</dcterms:created>
  <dcterms:modified xsi:type="dcterms:W3CDTF">2026-09-09T04:25:33Z</dcterms:modified>
</cp:coreProperties>
</file>